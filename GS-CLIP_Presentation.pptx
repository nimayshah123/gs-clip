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3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4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5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6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7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charts/chart8.xml" ContentType="application/vnd.openxmlformats-officedocument.drawingml.chart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Parameter Counts (K)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Parameters</c:v>
                </c:pt>
              </c:strCache>
            </c:strRef>
          </c:tx>
          <c:spPr>
            <a:solidFill>
              <a:srgbClr val="8A9BB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F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A9BB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7E8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3A6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Full CLIP
(125M)</c:v>
                  </c:pt>
                  <c:pt idx="1">
                    <c:v>LoRA only
(400K)</c:v>
                  </c:pt>
                  <c:pt idx="2">
                    <c:v>GNN+CA
(2.4M)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125000</c:v>
                </c:pt>
                <c:pt idx="1">
                  <c:v>400</c:v>
                </c:pt>
                <c:pt idx="2">
                  <c:v>2400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1F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F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F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LoRA Contribution Norm per Layer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LoRA Norm</c:v>
                </c:pt>
              </c:strCache>
            </c:strRef>
          </c:tx>
          <c:spPr>
            <a:solidFill>
              <a:srgbClr val="0D7E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26.8</c:v>
                </c:pt>
                <c:pt idx="1">
                  <c:v>27.2</c:v>
                </c:pt>
                <c:pt idx="2">
                  <c:v>27.4</c:v>
                </c:pt>
                <c:pt idx="3">
                  <c:v>27.6</c:v>
                </c:pt>
                <c:pt idx="4">
                  <c:v>27.8</c:v>
                </c:pt>
                <c:pt idx="5">
                  <c:v>28</c:v>
                </c:pt>
                <c:pt idx="6">
                  <c:v>28.2</c:v>
                </c:pt>
                <c:pt idx="7">
                  <c:v>28.4</c:v>
                </c:pt>
                <c:pt idx="8">
                  <c:v>28.6</c:v>
                </c:pt>
                <c:pt idx="9">
                  <c:v>29</c:v>
                </c:pt>
                <c:pt idx="10">
                  <c:v>29.4</c:v>
                </c:pt>
                <c:pt idx="11">
                  <c:v>31.4</c:v>
                </c:pt>
                <c:pt idx="12">
                  <c:v>28.1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F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F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Stage I Training Loss  (3.32 → 1.56)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Training Loss</c:v>
                </c:pt>
              </c:strCache>
            </c:strRef>
          </c:tx>
          <c:spPr>
            <a:solidFill>
              <a:srgbClr val="0D7E8C"/>
            </a:solidFill>
            <a:ln w="38100" cap="flat">
              <a:solidFill>
                <a:srgbClr val="0D7E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7E8C"/>
              </a:solidFill>
              <a:ln w="9525" cap="flat">
                <a:solidFill>
                  <a:srgbClr val="0D7E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/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3.32</c:v>
                </c:pt>
                <c:pt idx="1">
                  <c:v>3.18</c:v>
                </c:pt>
                <c:pt idx="2">
                  <c:v>3.05</c:v>
                </c:pt>
                <c:pt idx="3">
                  <c:v>2.91</c:v>
                </c:pt>
                <c:pt idx="4">
                  <c:v>2.78</c:v>
                </c:pt>
                <c:pt idx="5">
                  <c:v>2.66</c:v>
                </c:pt>
                <c:pt idx="6">
                  <c:v>2.54</c:v>
                </c:pt>
                <c:pt idx="7">
                  <c:v>2.44</c:v>
                </c:pt>
                <c:pt idx="8">
                  <c:v>2.35</c:v>
                </c:pt>
                <c:pt idx="9">
                  <c:v>2.27</c:v>
                </c:pt>
                <c:pt idx="10">
                  <c:v>2.18</c:v>
                </c:pt>
                <c:pt idx="11">
                  <c:v>2.1</c:v>
                </c:pt>
                <c:pt idx="12">
                  <c:v>2.03</c:v>
                </c:pt>
                <c:pt idx="13">
                  <c:v>1.95</c:v>
                </c:pt>
                <c:pt idx="14">
                  <c:v>1.88</c:v>
                </c:pt>
                <c:pt idx="15">
                  <c:v>1.81</c:v>
                </c:pt>
                <c:pt idx="16">
                  <c:v>1.76</c:v>
                </c:pt>
                <c:pt idx="17">
                  <c:v>1.7</c:v>
                </c:pt>
                <c:pt idx="18">
                  <c:v>1.64</c:v>
                </c:pt>
                <c:pt idx="19">
                  <c:v>1.56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F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F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IPS (Intra-Predicate Similarity ↓)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IPS (↓)</c:v>
                </c:pt>
              </c:strCache>
            </c:strRef>
          </c:tx>
          <c:spPr>
            <a:solidFill>
              <a:srgbClr val="0D7E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F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GS-CLIP (ours)</c:v>
                  </c:pt>
                  <c:pt idx="1">
                    <c:v>BLIP v1</c:v>
                  </c:pt>
                  <c:pt idx="2">
                    <c:v>CLIP LAION-2B</c:v>
                  </c:pt>
                  <c:pt idx="3">
                    <c:v>NegCLIP</c:v>
                  </c:pt>
                  <c:pt idx="4">
                    <c:v>CLIP ViT-B/32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0.379</c:v>
                </c:pt>
                <c:pt idx="1">
                  <c:v>0.596</c:v>
                </c:pt>
                <c:pt idx="2">
                  <c:v>0.641</c:v>
                </c:pt>
                <c:pt idx="3">
                  <c:v>0.783</c:v>
                </c:pt>
                <c:pt idx="4">
                  <c:v>0.782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1F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F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F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Text-Only Compositional Tasks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CLIP</c:v>
                </c:pt>
              </c:strCache>
            </c:strRef>
          </c:tx>
          <c:spPr>
            <a:solidFill>
              <a:srgbClr val="8A9BB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F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Role-swap
detection (%)</c:v>
                  </c:pt>
                  <c:pt idx="1">
                    <c:v>Forced-choice
discrim. (%)</c:v>
                  </c:pt>
                  <c:pt idx="2">
                    <c:v>SVO win
rate (%)</c:v>
                  </c:pt>
                  <c:pt idx="3">
                    <c:v>Spatial
generaliz. (%)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34.8</c:v>
                </c:pt>
                <c:pt idx="1">
                  <c:v>10.6</c:v>
                </c:pt>
                <c:pt idx="2">
                  <c:v>21.4</c:v>
                </c:pt>
                <c:pt idx="3">
                  <c:v>52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GS-CLIP</c:v>
                </c:pt>
              </c:strCache>
            </c:strRef>
          </c:tx>
          <c:spPr>
            <a:solidFill>
              <a:srgbClr val="0D7E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F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Role-swap
detection (%)</c:v>
                  </c:pt>
                  <c:pt idx="1">
                    <c:v>Forced-choice
discrim. (%)</c:v>
                  </c:pt>
                  <c:pt idx="2">
                    <c:v>SVO win
rate (%)</c:v>
                  </c:pt>
                  <c:pt idx="3">
                    <c:v>Spatial
generaliz. (%)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65.2</c:v>
                </c:pt>
                <c:pt idx="1">
                  <c:v>30.8</c:v>
                </c:pt>
                <c:pt idx="2">
                  <c:v>78.6</c:v>
                </c:pt>
                <c:pt idx="3">
                  <c:v>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1F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F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F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ARO VG-Relation Accuracy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VG-Rel Accuracy (%)</c:v>
                </c:pt>
              </c:strCache>
            </c:strRef>
          </c:tx>
          <c:spPr>
            <a:solidFill>
              <a:srgbClr val="8A9BB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F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A9BB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A9BB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A9BB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A9BB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A9BB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A9BB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8A9BB0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D7E8C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CLIP ViT-B/32</c:v>
                  </c:pt>
                  <c:pt idx="1">
                    <c:v>NegCLIP</c:v>
                  </c:pt>
                  <c:pt idx="2">
                    <c:v>Structure-CLIP</c:v>
                  </c:pt>
                  <c:pt idx="3">
                    <c:v>CoN-CLIP</c:v>
                  </c:pt>
                  <c:pt idx="4">
                    <c:v>TripletCLIP</c:v>
                  </c:pt>
                  <c:pt idx="5">
                    <c:v>CLIC-COCO</c:v>
                  </c:pt>
                  <c:pt idx="6">
                    <c:v>CLIC-RedCaps</c:v>
                  </c:pt>
                  <c:pt idx="7">
                    <c:v>GS-CLIP (ours)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59.9</c:v>
                </c:pt>
                <c:pt idx="1">
                  <c:v>73.6</c:v>
                </c:pt>
                <c:pt idx="2">
                  <c:v>69.4</c:v>
                </c:pt>
                <c:pt idx="3">
                  <c:v>71.2</c:v>
                </c:pt>
                <c:pt idx="4">
                  <c:v>74.1</c:v>
                </c:pt>
                <c:pt idx="5">
                  <c:v>74.3</c:v>
                </c:pt>
                <c:pt idx="6">
                  <c:v>76.2</c:v>
                </c:pt>
                <c:pt idx="7">
                  <c:v>88.95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1F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F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F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COCO-1K RSUM (↑)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RSUM</c:v>
                </c:pt>
              </c:strCache>
            </c:strRef>
          </c:tx>
          <c:spPr>
            <a:solidFill>
              <a:srgbClr val="1E3A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F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3A6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7E8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CLIP ViT-B/32</c:v>
                  </c:pt>
                  <c:pt idx="1">
                    <c:v>GS-CLIP Stage I
(VG only)</c:v>
                  </c:pt>
                  <c:pt idx="2">
                    <c:v>GS-CLIP Stage II
(+CLIC)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472.3</c:v>
                </c:pt>
                <c:pt idx="1">
                  <c:v>246.94</c:v>
                </c:pt>
                <c:pt idx="2">
                  <c:v>306.22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1F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F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F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IPS (x) vs ARO VG-Rel Accuracy (y)</a:t>
            </a: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Models</c:v>
                </c:pt>
              </c:strCache>
            </c:strRef>
          </c:tx>
          <c:spPr>
            <a:solidFill>
              <a:srgbClr val="0D7E8C"/>
            </a:solidFill>
            <a:ln>
              <a:noFill/>
            </a:ln>
            <a:effectLst/>
          </c:spPr>
          <c:marker>
            <c:symbol val="circle"/>
            <c:size val="6"/>
            <c:spPr>
              <a:solidFill>
                <a:srgbClr val="0D7E8C"/>
              </a:solidFill>
              <a:ln w="9525" cap="flat">
                <a:solidFill>
                  <a:srgbClr val="0D7E8C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0.971</c:v>
                </c:pt>
                <c:pt idx="1">
                  <c:v>0.78</c:v>
                </c:pt>
                <c:pt idx="2">
                  <c:v>0.64</c:v>
                </c:pt>
                <c:pt idx="3">
                  <c:v>0.596</c:v>
                </c:pt>
                <c:pt idx="4">
                  <c:v>0.379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54.35</c:v>
                </c:pt>
                <c:pt idx="1">
                  <c:v>73.6</c:v>
                </c:pt>
                <c:pt idx="2">
                  <c:v>76.2</c:v>
                </c:pt>
                <c:pt idx="3">
                  <c:v>72</c:v>
                </c:pt>
                <c:pt idx="4">
                  <c:v>88.95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F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F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image" Target="../media/image-23-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rect">
            <a:avLst/>
          </a:prstGeom>
          <a:solidFill>
            <a:srgbClr val="1E3A6E">
              <a:alpha val="40000"/>
            </a:srgbClr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474720"/>
            <a:ext cx="3200400" cy="3200400"/>
          </a:xfrm>
          <a:prstGeom prst="ellipse">
            <a:avLst/>
          </a:prstGeom>
          <a:solidFill>
            <a:srgbClr val="112755">
              <a:alpha val="60000"/>
            </a:srgbClr>
          </a:solidFill>
          <a:ln w="12700">
            <a:solidFill>
              <a:srgbClr val="1127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097280"/>
            <a:ext cx="91440" cy="2194560"/>
          </a:xfrm>
          <a:prstGeom prst="rect">
            <a:avLst/>
          </a:prstGeom>
          <a:solidFill>
            <a:srgbClr val="0D7E8C"/>
          </a:solidFill>
          <a:ln w="12700">
            <a:solidFill>
              <a:srgbClr val="0D7E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731520"/>
            <a:ext cx="7132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Graph-Supervised Adaptation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CLIP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2487168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i="1" dirty="0">
                <a:solidFill>
                  <a:srgbClr val="12B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Relational Compositionality by Reshaping Language Embedding Geometry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Nimay Upen Shah</a:t>
            </a:r>
            <a:pPr indent="0" marL="0">
              <a:buNone/>
            </a:pPr>
            <a:r>
              <a:rPr lang="en-US" sz="1250" dirty="0">
                <a:solidFill>
                  <a:srgbClr val="B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Amit Sethi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Electrical Engineering, IIT Bombay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3931920"/>
            <a:ext cx="1280160" cy="347472"/>
          </a:xfrm>
          <a:prstGeom prst="roundRect">
            <a:avLst>
              <a:gd name="adj" fmla="val 18421"/>
            </a:avLst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93192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ECCV 2026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949440" y="1371600"/>
            <a:ext cx="1828800" cy="2011680"/>
          </a:xfrm>
          <a:prstGeom prst="rect">
            <a:avLst/>
          </a:prstGeom>
          <a:solidFill>
            <a:srgbClr val="0D2545"/>
          </a:solidFill>
          <a:ln w="12700">
            <a:solidFill>
              <a:srgbClr val="1A40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0" y="1417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12B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49440" y="171907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0.971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7086600" y="2286000"/>
            <a:ext cx="1554480" cy="0"/>
          </a:xfrm>
          <a:prstGeom prst="line">
            <a:avLst/>
          </a:prstGeom>
          <a:noFill/>
          <a:ln w="9525">
            <a:solidFill>
              <a:srgbClr val="0D7E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0" y="2340864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B5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 0.379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949440" y="27614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61% reduction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0D7E8C"/>
          </a:solidFill>
          <a:ln w="12700">
            <a:solidFill>
              <a:srgbClr val="0D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93776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CLIP Works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20040" y="107899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Contrastive vision-language pre-training on hundreds of millions of image-text pairs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4846320"/>
            <a:ext cx="8503920" cy="0"/>
          </a:xfrm>
          <a:prstGeom prst="line">
            <a:avLst/>
          </a:prstGeom>
          <a:noFill/>
          <a:ln w="9525">
            <a:solidFill>
              <a:srgbClr val="E8EE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489204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GS-CLIP — Shah &amp; Sethi, IIT Bombay — ECCV 2026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2194560" cy="137160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14173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🖼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65760" y="20116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Encoder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(ViT-B/32)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285292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(Frozen in GS-CLIP)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583680" y="1417320"/>
            <a:ext cx="2194560" cy="1371600"/>
          </a:xfrm>
          <a:prstGeom prst="rect">
            <a:avLst/>
          </a:prstGeom>
          <a:solidFill>
            <a:srgbClr val="0D7E8C"/>
          </a:solidFill>
          <a:ln w="12700">
            <a:solidFill>
              <a:srgbClr val="0D7E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0" y="14173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📝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583680" y="20116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Encoder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(Transformer)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83680" y="285292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(Frozen in GS-CLIP)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560320" y="2103120"/>
            <a:ext cx="914400" cy="0"/>
          </a:xfrm>
          <a:prstGeom prst="line">
            <a:avLst/>
          </a:prstGeom>
          <a:noFill/>
          <a:ln w="19050">
            <a:solidFill>
              <a:srgbClr val="8A9BB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1828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E3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v_i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37560" y="1920240"/>
            <a:ext cx="640080" cy="41148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66360" y="2103120"/>
            <a:ext cx="1417320" cy="0"/>
          </a:xfrm>
          <a:prstGeom prst="line">
            <a:avLst/>
          </a:prstGeom>
          <a:noFill/>
          <a:ln w="19050">
            <a:solidFill>
              <a:srgbClr val="8A9BB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93792" y="1828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D7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t_j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166360" y="1920240"/>
            <a:ext cx="640080" cy="411480"/>
          </a:xfrm>
          <a:prstGeom prst="rect">
            <a:avLst/>
          </a:prstGeom>
          <a:solidFill>
            <a:srgbClr val="0D7E8C"/>
          </a:solidFill>
          <a:ln w="12700">
            <a:solidFill>
              <a:srgbClr val="0D7E8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49040" y="1371600"/>
            <a:ext cx="1371600" cy="1463040"/>
          </a:xfrm>
          <a:prstGeom prst="rect">
            <a:avLst/>
          </a:prstGeom>
          <a:solidFill>
            <a:srgbClr val="E8EEF4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94760" y="1417320"/>
            <a:ext cx="384048" cy="402336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94760" y="141732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224528" y="1417320"/>
            <a:ext cx="384048" cy="402336"/>
          </a:xfrm>
          <a:prstGeom prst="rect">
            <a:avLst/>
          </a:prstGeom>
          <a:solidFill>
            <a:srgbClr val="0D7E8C"/>
          </a:solidFill>
          <a:ln w="12700">
            <a:solidFill>
              <a:srgbClr val="0D7E8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24528" y="141732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654296" y="1417320"/>
            <a:ext cx="384048" cy="402336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54296" y="141732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794760" y="1865376"/>
            <a:ext cx="384048" cy="402336"/>
          </a:xfrm>
          <a:prstGeom prst="rect">
            <a:avLst/>
          </a:prstGeom>
          <a:solidFill>
            <a:srgbClr val="0D7E8C"/>
          </a:solidFill>
          <a:ln w="12700">
            <a:solidFill>
              <a:srgbClr val="0D7E8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94760" y="1865376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224528" y="1865376"/>
            <a:ext cx="384048" cy="402336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24528" y="1865376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654296" y="1865376"/>
            <a:ext cx="384048" cy="402336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54296" y="1865376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794760" y="2313432"/>
            <a:ext cx="384048" cy="402336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94760" y="2313432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224528" y="2313432"/>
            <a:ext cx="384048" cy="402336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24528" y="2313432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654296" y="2313432"/>
            <a:ext cx="384048" cy="402336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54296" y="2313432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749040" y="28803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Matrix (B×B)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74320" y="3154680"/>
            <a:ext cx="8595360" cy="914400"/>
          </a:xfrm>
          <a:prstGeom prst="rect">
            <a:avLst/>
          </a:prstGeom>
          <a:solidFill>
            <a:srgbClr val="EFF4FA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" y="324612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F7A"/>
                </a:solidFill>
              </a:rPr>
              <a:t>Objective — Symmetric InfoNCE:   </a:t>
            </a:r>
            <a:pPr indent="0" marL="0">
              <a:buNone/>
            </a:pPr>
            <a:r>
              <a:rPr lang="en-US" sz="1350" b="1" dirty="0">
                <a:solidFill>
                  <a:srgbClr val="0F1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 = –(1/B) Σᵢ log [ exp(sᵢᵢ/τ) / Σⱼ exp(sᵢⱼ/τ) ]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11480" y="365760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sᵢⱼ = vᵢᵀtⱼ  ·  Only global alignment optimised — NO gradient pressure for predicate-argument order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93776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CLIP's Blind Spot: Who Does What to Whom?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4846320"/>
            <a:ext cx="8503920" cy="0"/>
          </a:xfrm>
          <a:prstGeom prst="line">
            <a:avLst/>
          </a:prstGeom>
          <a:noFill/>
          <a:ln w="9525">
            <a:solidFill>
              <a:srgbClr val="E8EE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89204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GS-CLIP — Shah &amp; Sethi, IIT Bombay — ECCV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261872"/>
            <a:ext cx="3017520" cy="68580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261872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</a:t>
            </a:r>
            <a:endParaRPr lang="en-US" sz="700" dirty="0"/>
          </a:p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dog chases a cat"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5806440" y="1261872"/>
            <a:ext cx="3017520" cy="6858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897880" y="1261872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ROLE-SWAPPED</a:t>
            </a:r>
            <a:endParaRPr lang="en-US" sz="700" dirty="0"/>
          </a:p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cat chases a dog"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429000" y="13533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 sim =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29000" y="1627632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0.971</a:t>
            </a:r>
            <a:endParaRPr lang="en-US" sz="4200" dirty="0"/>
          </a:p>
        </p:txBody>
      </p:sp>
      <p:sp>
        <p:nvSpPr>
          <p:cNvPr id="13" name="Shape 11"/>
          <p:cNvSpPr/>
          <p:nvPr/>
        </p:nvSpPr>
        <p:spPr>
          <a:xfrm>
            <a:off x="3611880" y="2331720"/>
            <a:ext cx="1920240" cy="457200"/>
          </a:xfrm>
          <a:prstGeom prst="rect">
            <a:avLst/>
          </a:prstGeom>
          <a:solidFill>
            <a:srgbClr val="FFF3CD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1880" y="23317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discriminability = 0.029</a:t>
            </a:r>
            <a:endParaRPr lang="en-US" sz="105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880360"/>
            <a:ext cx="8503920" cy="18288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20040" y="4718304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Per-predicate IPS (left)  ·  Similarity distribution shift (center)  ·  Retrieval accuracy vs pool size (right)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93776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EOS-Pooling Bottleneck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20040" y="107899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InfoNCE cannot learn predicate-argument structure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4846320"/>
            <a:ext cx="8503920" cy="0"/>
          </a:xfrm>
          <a:prstGeom prst="line">
            <a:avLst/>
          </a:prstGeom>
          <a:noFill/>
          <a:ln w="9525">
            <a:solidFill>
              <a:srgbClr val="E8EE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489204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GS-CLIP — Shah &amp; Sethi, IIT Bombay — ECCV 2026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1325880"/>
            <a:ext cx="1051560" cy="420624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32588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[BOS]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536192" y="1325880"/>
            <a:ext cx="1051560" cy="420624"/>
          </a:xfrm>
          <a:prstGeom prst="rect">
            <a:avLst/>
          </a:prstGeom>
          <a:solidFill>
            <a:srgbClr val="4A5F7A"/>
          </a:solidFill>
          <a:ln w="12700">
            <a:solidFill>
              <a:srgbClr val="4A5F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36192" y="132588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06624" y="1325880"/>
            <a:ext cx="1051560" cy="420624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06624" y="132588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77056" y="1325880"/>
            <a:ext cx="1051560" cy="42062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77056" y="132588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47488" y="1325880"/>
            <a:ext cx="1051560" cy="420624"/>
          </a:xfrm>
          <a:prstGeom prst="rect">
            <a:avLst/>
          </a:prstGeom>
          <a:solidFill>
            <a:srgbClr val="4A5F7A"/>
          </a:solidFill>
          <a:ln w="12700">
            <a:solidFill>
              <a:srgbClr val="4A5F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47488" y="132588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17920" y="1325880"/>
            <a:ext cx="1051560" cy="420624"/>
          </a:xfrm>
          <a:prstGeom prst="rect">
            <a:avLst/>
          </a:prstGeom>
          <a:solidFill>
            <a:srgbClr val="0D7E8C"/>
          </a:solidFill>
          <a:ln w="12700">
            <a:solidFill>
              <a:srgbClr val="0D7E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132588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388352" y="1325880"/>
            <a:ext cx="1051560" cy="42062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88352" y="132588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[EOS]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293608" y="1536192"/>
            <a:ext cx="0" cy="64008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43800" y="216712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EOS pools ALL structure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790688" y="2450592"/>
            <a:ext cx="896112" cy="42062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90688" y="2450592"/>
            <a:ext cx="896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t_EOS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20040" y="2103120"/>
            <a:ext cx="4754880" cy="1463040"/>
          </a:xfrm>
          <a:prstGeom prst="rect">
            <a:avLst/>
          </a:prstGeom>
          <a:solidFill>
            <a:srgbClr val="EFF4FA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2121408"/>
            <a:ext cx="4617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</a:t>
            </a:r>
            <a:pPr indent="0" marL="0">
              <a:buNone/>
            </a:pPr>
            <a:r>
              <a:rPr lang="en-US" sz="1200" b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"dog chases cat"</a:t>
            </a:r>
            <a:pPr indent="0" marL="0">
              <a:buNone/>
            </a:pPr>
            <a:r>
              <a:rPr lang="en-US" sz="1200" dirty="0">
                <a:solidFill>
                  <a:srgbClr val="4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AND  </a:t>
            </a:r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"cat chases dog"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consistent with the SAME image.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InfoNCE loss sees them as equivalent — no gradient signal to separate them.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0040" y="3703320"/>
            <a:ext cx="8503920" cy="822960"/>
          </a:xfrm>
          <a:prstGeom prst="rect">
            <a:avLst/>
          </a:prstGeom>
          <a:solidFill>
            <a:srgbClr val="FFF8F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721608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signal: </a:t>
            </a:r>
            <a:pPr indent="0" marL="0">
              <a:buNone/>
            </a:pPr>
            <a:r>
              <a:rPr lang="en-US" sz="1250" b="1" dirty="0">
                <a:solidFill>
                  <a:srgbClr val="0F1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 sim(vᵢ, tᵢ) s.t. sim(vᵢ, tⱼ) &lt; sim(vᵢ, tᵢ) ∀ j≠i</a:t>
            </a:r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constraint that 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sim(t_"dog chases cat",  t_"cat chases dog")</a:t>
            </a:r>
            <a:pPr indent="0" marL="0">
              <a:buNone/>
            </a:pPr>
            <a:r>
              <a:rPr lang="en-US" sz="11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should be LOW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MATH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93776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Transformer Self-Attention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20040" y="107899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computation underlying CLIP's text encoder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4846320"/>
            <a:ext cx="8503920" cy="0"/>
          </a:xfrm>
          <a:prstGeom prst="line">
            <a:avLst/>
          </a:prstGeom>
          <a:noFill/>
          <a:ln w="9525">
            <a:solidFill>
              <a:srgbClr val="E8EE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489204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GS-CLIP — Shah &amp; Sethi, IIT Bombay — ECCV 2026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298448"/>
            <a:ext cx="2651760" cy="457200"/>
          </a:xfrm>
          <a:prstGeom prst="rect">
            <a:avLst/>
          </a:prstGeom>
          <a:solidFill>
            <a:srgbClr val="0D7E8C"/>
          </a:solidFill>
          <a:ln w="12700">
            <a:solidFill>
              <a:srgbClr val="0D7E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29844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(Query)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1792224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7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W_{Q} · X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1298448"/>
            <a:ext cx="2651760" cy="45720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29844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 (Key)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46120" y="1792224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3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W_{K} · X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1298448"/>
            <a:ext cx="2651760" cy="4572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129844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(Value)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72200" y="1792224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W_{V} · X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2267712"/>
            <a:ext cx="8503920" cy="914400"/>
          </a:xfrm>
          <a:prstGeom prst="rect">
            <a:avLst/>
          </a:prstGeom>
          <a:solidFill>
            <a:srgbClr val="EFF4FA"/>
          </a:solidFill>
          <a:ln w="9525">
            <a:solidFill>
              <a:srgbClr val="D8E4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1480" y="233172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Attention(Q, K, V)  =  softmax( Q · Kᵀ / √dₖ )  · V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411480" y="2807208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dₖ = head dimension  ·  softmax normalises attention weights over all positions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310128"/>
            <a:ext cx="41148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310128"/>
            <a:ext cx="54864" cy="822960"/>
          </a:xfrm>
          <a:prstGeom prst="rect">
            <a:avLst/>
          </a:prstGeom>
          <a:solidFill>
            <a:srgbClr val="0D7E8C"/>
          </a:solidFill>
          <a:ln w="12700">
            <a:solidFill>
              <a:srgbClr val="0D7E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337560"/>
            <a:ext cx="384048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Multi-Head: </a:t>
            </a:r>
            <a:pPr indent="0" marL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h attention heads in parallel,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 outputs → W_O · concat(head₁, …, headₕ)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3310128"/>
            <a:ext cx="41148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3310128"/>
            <a:ext cx="54864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337560"/>
            <a:ext cx="384048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CLIP's pooling: </a:t>
            </a:r>
            <a:pPr indent="0" marL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t_caption  =  h_{EOS}  — the final hidden state at position [EOS] summarises the entire sentence into one vector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MATH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93776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InfoNCE: What It Can and Cannot Learn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4846320"/>
            <a:ext cx="8503920" cy="0"/>
          </a:xfrm>
          <a:prstGeom prst="line">
            <a:avLst/>
          </a:prstGeom>
          <a:noFill/>
          <a:ln w="9525">
            <a:solidFill>
              <a:srgbClr val="E8EE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89204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GS-CLIP — Shah &amp; Sethi, IIT Bombay — ECCV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261872"/>
            <a:ext cx="8503920" cy="960120"/>
          </a:xfrm>
          <a:prstGeom prst="rect">
            <a:avLst/>
          </a:prstGeom>
          <a:solidFill>
            <a:srgbClr val="EFF4FA"/>
          </a:solidFill>
          <a:ln w="9525">
            <a:solidFill>
              <a:srgbClr val="D8E4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32588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L_CLIP  =  –(1/B) · Σᵢ  log  ───────────────────────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664208"/>
            <a:ext cx="8321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3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exp(sᵢᵢ/τ) / Σⱼ exp(sᵢⱼ/τ)  where sᵢⱼ = vᵢᵀtⱼ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" y="2423160"/>
            <a:ext cx="411480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423160"/>
            <a:ext cx="54864" cy="15087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48716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What it learns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2807208"/>
            <a:ext cx="37947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image↔text alignment across B examples
</a:t>
            </a:r>
            <a:pPr indent="0" marL="0">
              <a:buNone/>
            </a:pPr>
            <a:r>
              <a:rPr lang="en-US" sz="11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Semantic similarity (dog ≈ canine)
</a:t>
            </a:r>
            <a:pPr indent="0" marL="0">
              <a:buNone/>
            </a:pPr>
            <a:r>
              <a:rPr lang="en-US" sz="11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Visual concept binding (cat + furry texture)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09160" y="2423160"/>
            <a:ext cx="411480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2423160"/>
            <a:ext cx="54864" cy="15087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248716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  What it cannot learn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2807208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Who is agent vs patient in a relation
</a:t>
            </a:r>
            <a:pPr indent="0" marL="0">
              <a:buNone/>
            </a:pPr>
            <a:r>
              <a:rPr lang="en-US" sz="11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Predicate-argument structure preservation
</a:t>
            </a:r>
            <a:pPr indent="0" marL="0">
              <a:buNone/>
            </a:pPr>
            <a:r>
              <a:rPr lang="en-US" sz="11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Role-swap discriminability
</a:t>
            </a:r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Both configurations equally valid for same image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20040" y="409651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IPS = mean cos(embed("X PRED Y"),  embed("Y PRED X"))  =  0.971  for CLIP ViT-B/32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MATH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93776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Attention Network (GAT)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20040" y="107899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Propagating relational structure through node neighbourhoods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4846320"/>
            <a:ext cx="8503920" cy="0"/>
          </a:xfrm>
          <a:prstGeom prst="line">
            <a:avLst/>
          </a:prstGeom>
          <a:noFill/>
          <a:ln w="9525">
            <a:solidFill>
              <a:srgbClr val="E8EE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489204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GS-CLIP — Shah &amp; Sethi, IIT Bombay — ECCV 2026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325880"/>
            <a:ext cx="53035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325880"/>
            <a:ext cx="54864" cy="777240"/>
          </a:xfrm>
          <a:prstGeom prst="rect">
            <a:avLst/>
          </a:prstGeom>
          <a:solidFill>
            <a:srgbClr val="0D7E8C"/>
          </a:solidFill>
          <a:ln w="12700">
            <a:solidFill>
              <a:srgbClr val="0D7E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38074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Attention score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163677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eᵢⱼ  =  LeakyReLU( aᵀ [Whᵢ ‖ Whⱼ] 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20040" y="2240280"/>
            <a:ext cx="53035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240280"/>
            <a:ext cx="54864" cy="77724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29514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Normalize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" y="255117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αᵢⱼ  =  softmax_j( eᵢⱼ )  =  exp(eᵢⱼ) / Σₖ exp(eᵢₖ)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20040" y="3154680"/>
            <a:ext cx="53035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154680"/>
            <a:ext cx="54864" cy="7772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20954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Aggregate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5488" y="346557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h'ᵢ  =  σ( Σⱼ∈N(i)  αᵢⱼ · wᵢⱼ · W · hⱼ 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040880" y="1719072"/>
            <a:ext cx="1280160" cy="365760"/>
          </a:xfrm>
          <a:prstGeom prst="line">
            <a:avLst/>
          </a:prstGeom>
          <a:noFill/>
          <a:ln w="19050">
            <a:solidFill>
              <a:srgbClr val="E8EEF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21040" y="1719072"/>
            <a:ext cx="640080" cy="1097280"/>
          </a:xfrm>
          <a:prstGeom prst="line">
            <a:avLst/>
          </a:prstGeom>
          <a:noFill/>
          <a:ln w="19050">
            <a:solidFill>
              <a:srgbClr val="E8EEF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40880" y="2084832"/>
            <a:ext cx="1920240" cy="731520"/>
          </a:xfrm>
          <a:prstGeom prst="line">
            <a:avLst/>
          </a:prstGeom>
          <a:noFill/>
          <a:ln w="19050">
            <a:solidFill>
              <a:srgbClr val="E8EEF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66560" y="1828800"/>
            <a:ext cx="548640" cy="502920"/>
          </a:xfrm>
          <a:prstGeom prst="ellipse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0" y="18288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046720" y="1463040"/>
            <a:ext cx="548640" cy="50292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0" y="14630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686800" y="2560320"/>
            <a:ext cx="548640" cy="502920"/>
          </a:xfrm>
          <a:prstGeom prst="ellipse">
            <a:avLst/>
          </a:prstGeom>
          <a:solidFill>
            <a:srgbClr val="0D7E8C"/>
          </a:solidFill>
          <a:ln w="12700">
            <a:solidFill>
              <a:srgbClr val="0D7E8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0" y="25603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20040" y="425196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GS-CLIP uses: 3 layers · 8 heads · d=512 · edge-type-specific weights  (nsubj=1.0, dobj=1.0, prep=0.7)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MATH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93776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LoRA: Parameter-Efficient Backbone Adaptation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4846320"/>
            <a:ext cx="8503920" cy="0"/>
          </a:xfrm>
          <a:prstGeom prst="line">
            <a:avLst/>
          </a:prstGeom>
          <a:noFill/>
          <a:ln w="9525">
            <a:solidFill>
              <a:srgbClr val="E8EE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89204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GS-CLIP — Shah &amp; Sethi, IIT Bombay — ECCV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261872"/>
            <a:ext cx="8503920" cy="960120"/>
          </a:xfrm>
          <a:prstGeom prst="rect">
            <a:avLst/>
          </a:prstGeom>
          <a:solidFill>
            <a:srgbClr val="EFF4FA"/>
          </a:solidFill>
          <a:ln w="9525">
            <a:solidFill>
              <a:srgbClr val="D8E4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32588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W_eff  =  W  +  ΔW  =  W  +  (αᵣ/r) · B · 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1792224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∈ ℝ^{r×d_in}  (Kaiming init)     B ∈ ℝ^{d_out×r}  (zero init → ΔW=0 at start)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359152"/>
            <a:ext cx="402336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359152"/>
            <a:ext cx="54864" cy="1828800"/>
          </a:xfrm>
          <a:prstGeom prst="rect">
            <a:avLst/>
          </a:prstGeom>
          <a:solidFill>
            <a:srgbClr val="0D7E8C"/>
          </a:solidFill>
          <a:ln w="12700">
            <a:solidFill>
              <a:srgbClr val="0D7E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4231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Properties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278892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B=0 init → model starts identical to pretrained CLIP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Only A and B trained; W frozen throughout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Rank r=16, scaling αᵣ=32 → effective scale = 2.0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Applied to fc1 + fc2 of ALL 12 text encoder layers</a:t>
            </a:r>
            <a:endParaRPr lang="en-US" sz="11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4709160" y="2240280"/>
          <a:ext cx="41148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Shape 12"/>
          <p:cNvSpPr/>
          <p:nvPr/>
        </p:nvSpPr>
        <p:spPr>
          <a:xfrm>
            <a:off x="320040" y="4315968"/>
            <a:ext cx="2743200" cy="667512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365760" y="4389120"/>
            <a:ext cx="2651760" cy="387157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7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400K</a:t>
            </a:r>
            <a:endParaRPr lang="en-US" sz="3600" dirty="0"/>
          </a:p>
        </p:txBody>
      </p:sp>
      <p:sp>
        <p:nvSpPr>
          <p:cNvPr id="17" name="Text 14"/>
          <p:cNvSpPr/>
          <p:nvPr/>
        </p:nvSpPr>
        <p:spPr>
          <a:xfrm>
            <a:off x="393192" y="4729825"/>
            <a:ext cx="2596896" cy="2002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params (0.3% of CLIP backbone)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337560" y="4315968"/>
            <a:ext cx="2743200" cy="667512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3383280" y="4389120"/>
            <a:ext cx="2651760" cy="387157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24×</a:t>
            </a:r>
            <a:endParaRPr lang="en-US" sz="3600" dirty="0"/>
          </a:p>
        </p:txBody>
      </p:sp>
      <p:sp>
        <p:nvSpPr>
          <p:cNvPr id="20" name="Text 17"/>
          <p:cNvSpPr/>
          <p:nvPr/>
        </p:nvSpPr>
        <p:spPr>
          <a:xfrm>
            <a:off x="3410712" y="4729825"/>
            <a:ext cx="2596896" cy="2002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params than full fine-tuning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355080" y="4315968"/>
            <a:ext cx="2468880" cy="667512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400800" y="4389120"/>
            <a:ext cx="2377440" cy="387157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7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</a:t>
            </a:r>
            <a:endParaRPr lang="en-US" sz="3600" dirty="0"/>
          </a:p>
        </p:txBody>
      </p:sp>
      <p:sp>
        <p:nvSpPr>
          <p:cNvPr id="23" name="Text 20"/>
          <p:cNvSpPr/>
          <p:nvPr/>
        </p:nvSpPr>
        <p:spPr>
          <a:xfrm>
            <a:off x="6428232" y="4729825"/>
            <a:ext cx="2322576" cy="2002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ΔW at initialization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MATH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93776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Weisfeiler-Lehman Graph Similarity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20040" y="107899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fingerprinting for reweighting hard negatives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4846320"/>
            <a:ext cx="8503920" cy="0"/>
          </a:xfrm>
          <a:prstGeom prst="line">
            <a:avLst/>
          </a:prstGeom>
          <a:noFill/>
          <a:ln w="9525">
            <a:solidFill>
              <a:srgbClr val="E8EE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489204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GS-CLIP — Shah &amp; Sethi, IIT Bombay — ECCV 2026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298448"/>
            <a:ext cx="8503920" cy="685800"/>
          </a:xfrm>
          <a:prstGeom prst="rect">
            <a:avLst/>
          </a:prstGeom>
          <a:solidFill>
            <a:srgbClr val="EFF4FA"/>
          </a:solidFill>
          <a:ln w="9525">
            <a:solidFill>
              <a:srgbClr val="D8E4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35331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wl(Gᵢ, Gⱼ)  =  cos( φ(Gᵢ),  φ(Gⱼ) )  ∈ [0, 1]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20040" y="20116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φ(G) = WL colour histogram at depth h=2  ·  Nodes relabelled iteratively by aggregating neighbour labels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0040" y="2423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"dog chases cat"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606040"/>
            <a:ext cx="1005840" cy="228600"/>
          </a:xfrm>
          <a:prstGeom prst="line">
            <a:avLst/>
          </a:prstGeom>
          <a:noFill/>
          <a:ln w="19050">
            <a:solidFill>
              <a:srgbClr val="8A9BB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45920" y="2606040"/>
            <a:ext cx="1005840" cy="228600"/>
          </a:xfrm>
          <a:prstGeom prst="line">
            <a:avLst/>
          </a:prstGeom>
          <a:noFill/>
          <a:ln w="19050">
            <a:solidFill>
              <a:srgbClr val="8A9BB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34640"/>
            <a:ext cx="502920" cy="457200"/>
          </a:xfrm>
          <a:prstGeom prst="ellipse">
            <a:avLst/>
          </a:prstGeom>
          <a:solidFill>
            <a:srgbClr val="1E3A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346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645920" y="2606040"/>
            <a:ext cx="502920" cy="457200"/>
          </a:xfrm>
          <a:prstGeom prst="ellipse">
            <a:avLst/>
          </a:prstGeom>
          <a:solidFill>
            <a:srgbClr val="E8A0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45920" y="26060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651760" y="2834640"/>
            <a:ext cx="502920" cy="457200"/>
          </a:xfrm>
          <a:prstGeom prst="ellipse">
            <a:avLst/>
          </a:prstGeom>
          <a:solidFill>
            <a:srgbClr val="0D7E8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51760" y="28346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143000" y="4160520"/>
            <a:ext cx="2011680" cy="36576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43000" y="4160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wl = 1.00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206240" y="2423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"cat chases dog"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0" y="2606040"/>
            <a:ext cx="1005840" cy="228600"/>
          </a:xfrm>
          <a:prstGeom prst="line">
            <a:avLst/>
          </a:prstGeom>
          <a:noFill/>
          <a:ln w="19050">
            <a:solidFill>
              <a:srgbClr val="8A9BB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77840" y="2606040"/>
            <a:ext cx="1005840" cy="228600"/>
          </a:xfrm>
          <a:prstGeom prst="line">
            <a:avLst/>
          </a:prstGeom>
          <a:noFill/>
          <a:ln w="19050">
            <a:solidFill>
              <a:srgbClr val="8A9BB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2834640"/>
            <a:ext cx="502920" cy="457200"/>
          </a:xfrm>
          <a:prstGeom prst="ellipse">
            <a:avLst/>
          </a:prstGeom>
          <a:solidFill>
            <a:srgbClr val="0D7E8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28346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577840" y="2606040"/>
            <a:ext cx="502920" cy="457200"/>
          </a:xfrm>
          <a:prstGeom prst="ellipse">
            <a:avLst/>
          </a:prstGeom>
          <a:solidFill>
            <a:srgbClr val="E8A0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77840" y="26060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583680" y="2834640"/>
            <a:ext cx="502920" cy="457200"/>
          </a:xfrm>
          <a:prstGeom prst="ellipse">
            <a:avLst/>
          </a:prstGeom>
          <a:solidFill>
            <a:srgbClr val="1E3A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0" y="28346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029200" y="4160520"/>
            <a:ext cx="2011680" cy="36576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0" y="4160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wl = 1.00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703320" y="3291840"/>
            <a:ext cx="457200" cy="0"/>
          </a:xfrm>
          <a:prstGeom prst="line">
            <a:avLst/>
          </a:prstGeom>
          <a:noFill/>
          <a:ln w="19050">
            <a:solidFill>
              <a:srgbClr val="8A9BB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94760" y="3154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0392B"/>
                </a:solidFill>
              </a:rPr>
              <a:t>↔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20040" y="4617720"/>
            <a:ext cx="850392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0040" y="4617720"/>
            <a:ext cx="54864" cy="3657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636008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Stage II Lₛₜᵣᵤ꜀ₜ: structurally similar negatives get higher penalty weight → separates role-swapped pairs harder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12B5C5"/>
          </a:solidFill>
          <a:ln w="12700">
            <a:solidFill>
              <a:srgbClr val="12B5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164592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GS-CLIP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1572768" cy="2011680"/>
          </a:xfrm>
          <a:prstGeom prst="rect">
            <a:avLst/>
          </a:prstGeom>
          <a:solidFill>
            <a:srgbClr val="0D2545"/>
          </a:solidFill>
          <a:ln w="19050">
            <a:solidFill>
              <a:srgbClr val="0D7E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04672"/>
            <a:ext cx="1572768" cy="347472"/>
          </a:xfrm>
          <a:prstGeom prst="rect">
            <a:avLst/>
          </a:prstGeom>
          <a:solidFill>
            <a:srgbClr val="0D7E8C"/>
          </a:solidFill>
          <a:ln w="12700">
            <a:solidFill>
              <a:srgbClr val="0D7E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0467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118872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Scene Graph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47472" y="1709928"/>
            <a:ext cx="142646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dep-parse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G=(V,E)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47088" y="1801368"/>
            <a:ext cx="164592" cy="0"/>
          </a:xfrm>
          <a:prstGeom prst="line">
            <a:avLst/>
          </a:prstGeom>
          <a:noFill/>
          <a:ln w="19050">
            <a:solidFill>
              <a:srgbClr val="4A6A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0" y="804672"/>
            <a:ext cx="1572768" cy="2011680"/>
          </a:xfrm>
          <a:prstGeom prst="rect">
            <a:avLst/>
          </a:prstGeom>
          <a:solidFill>
            <a:srgbClr val="0D2545"/>
          </a:solidFill>
          <a:ln w="19050">
            <a:solidFill>
              <a:srgbClr val="1E3A6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11680" y="804672"/>
            <a:ext cx="1572768" cy="347472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0" y="80467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011680" y="118872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084832" y="1709928"/>
            <a:ext cx="142646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3-layer, 8-head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d=512, residuals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584448" y="1801368"/>
            <a:ext cx="164592" cy="0"/>
          </a:xfrm>
          <a:prstGeom prst="line">
            <a:avLst/>
          </a:prstGeom>
          <a:noFill/>
          <a:ln w="19050">
            <a:solidFill>
              <a:srgbClr val="4A6A8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49040" y="804672"/>
            <a:ext cx="1572768" cy="2011680"/>
          </a:xfrm>
          <a:prstGeom prst="rect">
            <a:avLst/>
          </a:prstGeom>
          <a:solidFill>
            <a:srgbClr val="0D2545"/>
          </a:solidFill>
          <a:ln w="19050">
            <a:solidFill>
              <a:srgbClr val="1E6B8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49040" y="804672"/>
            <a:ext cx="1572768" cy="347472"/>
          </a:xfrm>
          <a:prstGeom prst="rect">
            <a:avLst/>
          </a:prstGeom>
          <a:solidFill>
            <a:srgbClr val="1E6B8C"/>
          </a:solidFill>
          <a:ln w="12700">
            <a:solidFill>
              <a:srgbClr val="1E6B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0" y="80467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749040" y="118872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Cross-Attention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Fusion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822192" y="1709928"/>
            <a:ext cx="142646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H_CLIP + MultiHead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(Q=CLIP, K/V=GNN)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321808" y="1801368"/>
            <a:ext cx="164592" cy="0"/>
          </a:xfrm>
          <a:prstGeom prst="line">
            <a:avLst/>
          </a:prstGeom>
          <a:noFill/>
          <a:ln w="19050">
            <a:solidFill>
              <a:srgbClr val="4A6A8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0" y="804672"/>
            <a:ext cx="1572768" cy="2011680"/>
          </a:xfrm>
          <a:prstGeom prst="rect">
            <a:avLst/>
          </a:prstGeom>
          <a:solidFill>
            <a:srgbClr val="0D2545"/>
          </a:solidFill>
          <a:ln w="19050">
            <a:solidFill>
              <a:srgbClr val="1A6B3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0" y="804672"/>
            <a:ext cx="1572768" cy="34747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0" y="80467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0" y="118872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LoRA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Adapters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559552" y="1709928"/>
            <a:ext cx="142646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r=16, α=32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fc1+fc2 ×12 layers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059168" y="1801368"/>
            <a:ext cx="164592" cy="0"/>
          </a:xfrm>
          <a:prstGeom prst="line">
            <a:avLst/>
          </a:prstGeom>
          <a:noFill/>
          <a:ln w="19050">
            <a:solidFill>
              <a:srgbClr val="4A6A8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23760" y="804672"/>
            <a:ext cx="1572768" cy="2011680"/>
          </a:xfrm>
          <a:prstGeom prst="rect">
            <a:avLst/>
          </a:prstGeom>
          <a:solidFill>
            <a:srgbClr val="0D2545"/>
          </a:solidFill>
          <a:ln w="19050">
            <a:solidFill>
              <a:srgbClr val="E8A02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0" y="804672"/>
            <a:ext cx="1572768" cy="34747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23760" y="80467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223760" y="118872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Binding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Projection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296912" y="1709928"/>
            <a:ext cx="142646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t_final=(I+αΔW)t_EOS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II only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2926080"/>
            <a:ext cx="8595360" cy="347472"/>
          </a:xfrm>
          <a:prstGeom prst="rect">
            <a:avLst/>
          </a:prstGeom>
          <a:solidFill>
            <a:srgbClr val="0A1830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292608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Encoder  —  FROZEN throughout both stages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4320" y="3401568"/>
            <a:ext cx="4206240" cy="1508760"/>
          </a:xfrm>
          <a:prstGeom prst="rect">
            <a:avLst/>
          </a:prstGeom>
          <a:solidFill>
            <a:srgbClr val="0D2040"/>
          </a:solidFill>
          <a:ln w="19050">
            <a:solidFill>
              <a:srgbClr val="0D7E8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3401568"/>
            <a:ext cx="4206240" cy="329184"/>
          </a:xfrm>
          <a:prstGeom prst="rect">
            <a:avLst/>
          </a:prstGeom>
          <a:solidFill>
            <a:srgbClr val="0D7E8C"/>
          </a:solidFill>
          <a:ln w="12700">
            <a:solidFill>
              <a:srgbClr val="0D7E8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7472" y="3401568"/>
            <a:ext cx="40599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I — Visual Genome — 50K pairs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384048" y="37673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GNN + Cross-Attention + LoRA trainable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84048" y="405993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Standard bidirectional InfoNCE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84048" y="435254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Loss: 3.32 → 1.56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663440" y="3401568"/>
            <a:ext cx="4206240" cy="1508760"/>
          </a:xfrm>
          <a:prstGeom prst="rect">
            <a:avLst/>
          </a:prstGeom>
          <a:solidFill>
            <a:srgbClr val="0D2040"/>
          </a:solidFill>
          <a:ln w="19050">
            <a:solidFill>
              <a:srgbClr val="E8A02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63440" y="3401568"/>
            <a:ext cx="4206240" cy="32918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36592" y="3401568"/>
            <a:ext cx="40599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II — MS-COCO — 118K pairs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4773168" y="37673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LoRA + Binding gate (α, ΔW) only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773168" y="405993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5-term composite loss (Lₛₜᵣᵤ꜀ₜ + Lₕₙₑ꜀ + …)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773168" y="435254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7,392 steps · batch 128 · fp16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0D7E8C"/>
          </a:solidFill>
          <a:ln w="12700">
            <a:solidFill>
              <a:srgbClr val="0D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— STEP 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93776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Scene Graph Extraction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20040" y="107899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dependency parser → typed, weighted directed graph G = (V, E)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4846320"/>
            <a:ext cx="8503920" cy="0"/>
          </a:xfrm>
          <a:prstGeom prst="line">
            <a:avLst/>
          </a:prstGeom>
          <a:noFill/>
          <a:ln w="9525">
            <a:solidFill>
              <a:srgbClr val="E8EE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489204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GS-CLIP — Shah &amp; Sethi, IIT Bombay — ECCV 2026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280160"/>
            <a:ext cx="8503920" cy="457200"/>
          </a:xfrm>
          <a:prstGeom prst="rect">
            <a:avLst/>
          </a:prstGeom>
          <a:solidFill>
            <a:srgbClr val="F7F9FC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28016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 dog is chasing a cat on the mat"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67512" y="2194560"/>
            <a:ext cx="1600200" cy="0"/>
          </a:xfrm>
          <a:prstGeom prst="line">
            <a:avLst/>
          </a:prstGeom>
          <a:noFill/>
          <a:ln w="19050">
            <a:solidFill>
              <a:srgbClr val="E8EE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03020" y="2066544"/>
            <a:ext cx="502920" cy="237744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03020" y="206654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nsubj=1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67712" y="2194560"/>
            <a:ext cx="1645920" cy="0"/>
          </a:xfrm>
          <a:prstGeom prst="line">
            <a:avLst/>
          </a:prstGeom>
          <a:noFill/>
          <a:ln w="19050">
            <a:solidFill>
              <a:srgbClr val="E8EE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26080" y="2066544"/>
            <a:ext cx="502920" cy="237744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0" y="206654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dobj=1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267712" y="2194560"/>
            <a:ext cx="3383280" cy="0"/>
          </a:xfrm>
          <a:prstGeom prst="line">
            <a:avLst/>
          </a:prstGeom>
          <a:noFill/>
          <a:ln w="19050">
            <a:solidFill>
              <a:srgbClr val="E8EE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94760" y="2066544"/>
            <a:ext cx="502920" cy="23774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94760" y="206654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prep=0.7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650992" y="2194560"/>
            <a:ext cx="1554480" cy="0"/>
          </a:xfrm>
          <a:prstGeom prst="line">
            <a:avLst/>
          </a:prstGeom>
          <a:noFill/>
          <a:ln w="19050">
            <a:solidFill>
              <a:srgbClr val="E8EEF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2066544"/>
            <a:ext cx="502920" cy="23774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206654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pobj=0.7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67512" y="2194560"/>
            <a:ext cx="548640" cy="960120"/>
          </a:xfrm>
          <a:prstGeom prst="line">
            <a:avLst/>
          </a:prstGeom>
          <a:noFill/>
          <a:ln w="19050">
            <a:solidFill>
              <a:srgbClr val="E8EEF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" y="2546604"/>
            <a:ext cx="502920" cy="237744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254660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det=0.3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519672" y="2194560"/>
            <a:ext cx="685800" cy="960120"/>
          </a:xfrm>
          <a:prstGeom prst="line">
            <a:avLst/>
          </a:prstGeom>
          <a:noFill/>
          <a:ln w="19050">
            <a:solidFill>
              <a:srgbClr val="E8EEF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97980" y="2546604"/>
            <a:ext cx="502920" cy="237744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97980" y="254660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det=0.3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11480" y="1965960"/>
            <a:ext cx="512064" cy="420624"/>
          </a:xfrm>
          <a:prstGeom prst="ellipse">
            <a:avLst/>
          </a:prstGeom>
          <a:solidFill>
            <a:srgbClr val="1E3A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1965960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11480" y="218541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nsubj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2011680" y="1965960"/>
            <a:ext cx="512064" cy="42062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11680" y="1965960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chasing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011680" y="218541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3657600" y="1965960"/>
            <a:ext cx="512064" cy="420624"/>
          </a:xfrm>
          <a:prstGeom prst="ellipse">
            <a:avLst/>
          </a:prstGeom>
          <a:solidFill>
            <a:srgbClr val="0D7E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0" y="1965960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657600" y="218541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dobj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5394960" y="1965960"/>
            <a:ext cx="512064" cy="420624"/>
          </a:xfrm>
          <a:prstGeom prst="ellipse">
            <a:avLst/>
          </a:prstGeom>
          <a:solidFill>
            <a:srgbClr val="E8A0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94960" y="1965960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394960" y="218541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6949440" y="1965960"/>
            <a:ext cx="512064" cy="420624"/>
          </a:xfrm>
          <a:prstGeom prst="ellipse">
            <a:avLst/>
          </a:prstGeom>
          <a:solidFill>
            <a:srgbClr val="7A5C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49440" y="1965960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949440" y="218541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pobj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960120" y="2926080"/>
            <a:ext cx="512064" cy="420624"/>
          </a:xfrm>
          <a:prstGeom prst="ellipse">
            <a:avLst/>
          </a:prstGeom>
          <a:solidFill>
            <a:srgbClr val="8A9B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60120" y="2926080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960120" y="314553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6263640" y="2926080"/>
            <a:ext cx="512064" cy="420624"/>
          </a:xfrm>
          <a:prstGeom prst="ellipse">
            <a:avLst/>
          </a:prstGeom>
          <a:solidFill>
            <a:srgbClr val="8A9B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63640" y="2926080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263640" y="314553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320040" y="3474720"/>
            <a:ext cx="8503920" cy="960120"/>
          </a:xfrm>
          <a:prstGeom prst="rect">
            <a:avLst/>
          </a:prstGeom>
          <a:solidFill>
            <a:srgbClr val="EFF4FA"/>
          </a:solidFill>
          <a:ln w="9525">
            <a:solidFill>
              <a:srgbClr val="D8E4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457200" y="3520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Weight Schema (Def. 1)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57200" y="3858768"/>
            <a:ext cx="164592" cy="41148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76656" y="385876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nsubj, nsubjpass, dobj, iobj
</a:t>
            </a:r>
            <a:pPr indent="0" marL="0">
              <a:buNone/>
            </a:pPr>
            <a:r>
              <a:rPr lang="en-US" sz="950" dirty="0">
                <a:solidFill>
                  <a:srgbClr val="4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— Core arguments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291840" y="3858768"/>
            <a:ext cx="164592" cy="4114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511296" y="385876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prep, pobj
</a:t>
            </a:r>
            <a:pPr indent="0" marL="0">
              <a:buNone/>
            </a:pPr>
            <a:r>
              <a:rPr lang="en-US" sz="950" dirty="0">
                <a:solidFill>
                  <a:srgbClr val="4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 — Prepositional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126480" y="3858768"/>
            <a:ext cx="164592" cy="411480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45936" y="385876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det, amod, others
</a:t>
            </a:r>
            <a:pPr indent="0" marL="0">
              <a:buNone/>
            </a:pPr>
            <a:r>
              <a:rPr lang="en-US" sz="950" dirty="0">
                <a:solidFill>
                  <a:srgbClr val="4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 — Modifiers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0D7E8C"/>
          </a:solidFill>
          <a:ln w="12700">
            <a:solidFill>
              <a:srgbClr val="0D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— STEP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93776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Attention Network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20040" y="107899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layers · 8 attention heads · d=512 · residual connections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4846320"/>
            <a:ext cx="8503920" cy="0"/>
          </a:xfrm>
          <a:prstGeom prst="line">
            <a:avLst/>
          </a:prstGeom>
          <a:noFill/>
          <a:ln w="9525">
            <a:solidFill>
              <a:srgbClr val="E8EE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489204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GS-CLIP — Shah &amp; Sethi, IIT Bombay — ECCV 2026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261872"/>
            <a:ext cx="8503920" cy="640080"/>
          </a:xfrm>
          <a:prstGeom prst="rect">
            <a:avLst/>
          </a:prstGeom>
          <a:solidFill>
            <a:srgbClr val="EFF4FA"/>
          </a:solidFill>
          <a:ln w="9525">
            <a:solidFill>
              <a:srgbClr val="D8E4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316736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h⁽ˡ⁺¹⁾ᵢ  =  σ(  Σⱼ∈N(i)  α⁽ˡ⁾ᵢⱼ  ·  wᵢⱼ  ·  W⁽ˡ⁾ h⁽ˡ⁾ⱼ  )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20040" y="2029968"/>
            <a:ext cx="27432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029968"/>
            <a:ext cx="54864" cy="1097280"/>
          </a:xfrm>
          <a:prstGeom prst="rect">
            <a:avLst/>
          </a:prstGeom>
          <a:solidFill>
            <a:srgbClr val="0D7E8C"/>
          </a:solidFill>
          <a:ln w="12700">
            <a:solidFill>
              <a:srgbClr val="0D7E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08483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395728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init from CLIP embedding table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063240" y="2578608"/>
            <a:ext cx="182880" cy="0"/>
          </a:xfrm>
          <a:prstGeom prst="line">
            <a:avLst/>
          </a:prstGeom>
          <a:noFill/>
          <a:ln w="12700">
            <a:solidFill>
              <a:srgbClr val="8A9BB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46120" y="2029968"/>
            <a:ext cx="27432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2029968"/>
            <a:ext cx="54864" cy="109728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208483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83280" y="2395728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Multi-hop relational propagation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989320" y="2578608"/>
            <a:ext cx="182880" cy="0"/>
          </a:xfrm>
          <a:prstGeom prst="line">
            <a:avLst/>
          </a:prstGeom>
          <a:noFill/>
          <a:ln w="12700">
            <a:solidFill>
              <a:srgbClr val="8A9BB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0" y="2029968"/>
            <a:ext cx="27432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72200" y="2029968"/>
            <a:ext cx="54864" cy="10972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208483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09360" y="2395728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+ residual + LayerNorm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3291840"/>
            <a:ext cx="8503920" cy="12344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33756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Result: GNN Supervision Reshapes the Embedding Space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3712464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 (↓)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48640" y="3950208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0.971  →  0.379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429768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B5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-61%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83280" y="3712464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Random-pair sim (↓)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383280" y="3950208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0.766  →  0.265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383280" y="429768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-65%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17920" y="3712464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discriminability (↑)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217920" y="3950208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0.029  →  0.621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17920" y="429768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21×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0D7E8C"/>
          </a:solidFill>
          <a:ln w="12700">
            <a:solidFill>
              <a:srgbClr val="0D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— STEP 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93776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Cross-Attention Fusion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20040" y="107899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injects structural information into CLIP token representations non-destructively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4846320"/>
            <a:ext cx="8503920" cy="0"/>
          </a:xfrm>
          <a:prstGeom prst="line">
            <a:avLst/>
          </a:prstGeom>
          <a:noFill/>
          <a:ln w="9525">
            <a:solidFill>
              <a:srgbClr val="E8EE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489204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GS-CLIP — Shah &amp; Sethi, IIT Bombay — ECCV 2026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261872"/>
            <a:ext cx="8503920" cy="594360"/>
          </a:xfrm>
          <a:prstGeom prst="rect">
            <a:avLst/>
          </a:prstGeom>
          <a:solidFill>
            <a:srgbClr val="EFF4FA"/>
          </a:solidFill>
          <a:ln w="9525">
            <a:solidFill>
              <a:srgbClr val="D8E4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316736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H_fused  =  H_CLIP  +  MultiHead( Q = H_CLIP,  K = H_GNN,  V = H_GNN 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20040" y="192024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tokens (Q)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2194560"/>
            <a:ext cx="1280160" cy="329184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19456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[BOS]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" y="2578608"/>
            <a:ext cx="1280160" cy="329184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57860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2962656"/>
            <a:ext cx="1280160" cy="329184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96265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" y="3346704"/>
            <a:ext cx="1280160" cy="329184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34670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3730752"/>
            <a:ext cx="1280160" cy="329184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73075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[EOS]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178040" y="192024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nodes (K, V)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269480" y="2194560"/>
            <a:ext cx="1280160" cy="329184"/>
          </a:xfrm>
          <a:prstGeom prst="rect">
            <a:avLst/>
          </a:prstGeom>
          <a:solidFill>
            <a:srgbClr val="0D7E8C"/>
          </a:solidFill>
          <a:ln w="12700">
            <a:solidFill>
              <a:srgbClr val="0D7E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69480" y="219456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269480" y="2578608"/>
            <a:ext cx="1280160" cy="329184"/>
          </a:xfrm>
          <a:prstGeom prst="rect">
            <a:avLst/>
          </a:prstGeom>
          <a:solidFill>
            <a:srgbClr val="0D7E8C"/>
          </a:solidFill>
          <a:ln w="12700">
            <a:solidFill>
              <a:srgbClr val="0D7E8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69480" y="257860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269480" y="2962656"/>
            <a:ext cx="1280160" cy="329184"/>
          </a:xfrm>
          <a:prstGeom prst="rect">
            <a:avLst/>
          </a:prstGeom>
          <a:solidFill>
            <a:srgbClr val="0D7E8C"/>
          </a:solidFill>
          <a:ln w="12700">
            <a:solidFill>
              <a:srgbClr val="0D7E8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69480" y="296265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017520" y="2011680"/>
            <a:ext cx="3108960" cy="2148840"/>
          </a:xfrm>
          <a:prstGeom prst="rect">
            <a:avLst/>
          </a:prstGeom>
          <a:solidFill>
            <a:srgbClr val="1E3A6E"/>
          </a:solidFill>
          <a:ln w="19050">
            <a:solidFill>
              <a:srgbClr val="12B5C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17520" y="205740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Cross-Attention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108960" y="242316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C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= W_Q · H_CLIP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C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= W_K · H_GNN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C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= W_V · H_GNN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C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softmax(QKᵀ / √d)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C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 = A · V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C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H_fused = H_CLIP + Out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783080" y="2834640"/>
            <a:ext cx="1234440" cy="0"/>
          </a:xfrm>
          <a:prstGeom prst="line">
            <a:avLst/>
          </a:prstGeom>
          <a:noFill/>
          <a:ln w="19050">
            <a:solidFill>
              <a:srgbClr val="8A9BB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26480" y="2834640"/>
            <a:ext cx="1051560" cy="0"/>
          </a:xfrm>
          <a:prstGeom prst="line">
            <a:avLst/>
          </a:prstGeom>
          <a:noFill/>
          <a:ln w="19050">
            <a:solidFill>
              <a:srgbClr val="8A9BB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" y="4297680"/>
            <a:ext cx="8503920" cy="530352"/>
          </a:xfrm>
          <a:prstGeom prst="rect">
            <a:avLst/>
          </a:prstGeom>
          <a:solidFill>
            <a:srgbClr val="EFF4FA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32511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gate at convergence: </a:t>
            </a:r>
            <a:pPr indent="0" marL="0">
              <a:buNone/>
            </a:pPr>
            <a:r>
              <a:rPr lang="en-US" sz="1400" b="1" dirty="0">
                <a:solidFill>
                  <a:srgbClr val="0D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0.503  </a:t>
            </a:r>
            <a:pPr indent="0" marL="0">
              <a:buNone/>
            </a:pPr>
            <a:r>
              <a:rPr lang="en-US" sz="10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 equal blend of CLIP features and GNN-enhanced features. Gate did not collapse to 0 (GNN unused) nor saturate to 1 (CLIP discarded).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0D7E8C"/>
          </a:solidFill>
          <a:ln w="12700">
            <a:solidFill>
              <a:srgbClr val="0D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— STEP 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93776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LoRA Adaptation of the Text Encoder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20040" y="107899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r=16, αᵣ=32 · fc1 and fc2 of all 12 transformer layers · ~400K params (0.3% of CLIP)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4846320"/>
            <a:ext cx="8503920" cy="0"/>
          </a:xfrm>
          <a:prstGeom prst="line">
            <a:avLst/>
          </a:prstGeom>
          <a:noFill/>
          <a:ln w="9525">
            <a:solidFill>
              <a:srgbClr val="E8EE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489204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GS-CLIP — Shah &amp; Sethi, IIT Bombay — ECCV 2026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280160"/>
            <a:ext cx="3840480" cy="3017520"/>
          </a:xfrm>
          <a:prstGeom prst="rect">
            <a:avLst/>
          </a:prstGeom>
          <a:solidFill>
            <a:srgbClr val="EFF4FA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3258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Transformer Block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691640"/>
            <a:ext cx="3383280" cy="347472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6916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(frozen)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148840"/>
            <a:ext cx="3383280" cy="347472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1488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LayerNorm (frozen)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606040"/>
            <a:ext cx="3383280" cy="347472"/>
          </a:xfrm>
          <a:prstGeom prst="rect">
            <a:avLst/>
          </a:prstGeom>
          <a:solidFill>
            <a:srgbClr val="0D7E8C"/>
          </a:solidFill>
          <a:ln w="12700">
            <a:solidFill>
              <a:srgbClr val="0D7E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6060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fc1  +  LoRA₁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063240"/>
            <a:ext cx="3383280" cy="347472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0632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GELU (frozen)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520440"/>
            <a:ext cx="3383280" cy="347472"/>
          </a:xfrm>
          <a:prstGeom prst="rect">
            <a:avLst/>
          </a:prstGeom>
          <a:solidFill>
            <a:srgbClr val="0D7E8C"/>
          </a:solidFill>
          <a:ln w="12700">
            <a:solidFill>
              <a:srgbClr val="0D7E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5204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fc2  +  LoRA₂</a:t>
            </a:r>
            <a:endParaRPr lang="en-US" sz="11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4389120" y="1234440"/>
          <a:ext cx="448056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Shape 18"/>
          <p:cNvSpPr/>
          <p:nvPr/>
        </p:nvSpPr>
        <p:spPr>
          <a:xfrm>
            <a:off x="4389120" y="3950208"/>
            <a:ext cx="448056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389120" y="3950208"/>
            <a:ext cx="54864" cy="5943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0" y="3986784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Monotonically increasing fc1 norm (layers 0→10): relational structure encoded at intermediate-to-deep layers. Non-random — not uniform drift.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320040" y="4434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LoRA norm = 27.8  ·  Well above zero-init  ·  Confirms meaningful backbone adaptation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0D7E8C"/>
          </a:solidFill>
          <a:ln w="12700">
            <a:solidFill>
              <a:srgbClr val="0D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— STEP 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93776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Binding Projection  (Stage II)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20040" y="107899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learned identity-plus-correction at the EOS embedding level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4846320"/>
            <a:ext cx="8503920" cy="0"/>
          </a:xfrm>
          <a:prstGeom prst="line">
            <a:avLst/>
          </a:prstGeom>
          <a:noFill/>
          <a:ln w="9525">
            <a:solidFill>
              <a:srgbClr val="E8EE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489204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GS-CLIP — Shah &amp; Sethi, IIT Bombay — ECCV 2026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261872"/>
            <a:ext cx="8503920" cy="685800"/>
          </a:xfrm>
          <a:prstGeom prst="rect">
            <a:avLst/>
          </a:prstGeom>
          <a:solidFill>
            <a:srgbClr val="EFF4FA"/>
          </a:solidFill>
          <a:ln w="9525">
            <a:solidFill>
              <a:srgbClr val="D8E4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316736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t_final  =  ( I  +  α · ΔW )  ·  t_EOS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20040" y="2103120"/>
            <a:ext cx="27432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103120"/>
            <a:ext cx="54864" cy="155448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16712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ΔW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2542032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Initialised to zero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identity at start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in Stage II only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46120" y="2103120"/>
            <a:ext cx="27432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2103120"/>
            <a:ext cx="54864" cy="1554480"/>
          </a:xfrm>
          <a:prstGeom prst="rect">
            <a:avLst/>
          </a:prstGeom>
          <a:solidFill>
            <a:srgbClr val="0D7E8C"/>
          </a:solidFill>
          <a:ln w="12700">
            <a:solidFill>
              <a:srgbClr val="0D7E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216712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 (scalar gate)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83280" y="2542032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sigmoid(-5) ≈ 0.007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0.01 → 0.087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3,000 steps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2200" y="2103120"/>
            <a:ext cx="27432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72200" y="2103120"/>
            <a:ext cx="54864" cy="15544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216712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Effect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09360" y="2542032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Non-trivial correction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by α &gt; 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Stable, monotonic growth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3794760"/>
            <a:ext cx="8503920" cy="10058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840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 evolution during Stage II training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206240"/>
            <a:ext cx="5029200" cy="274320"/>
          </a:xfrm>
          <a:prstGeom prst="rect">
            <a:avLst/>
          </a:prstGeom>
          <a:solidFill>
            <a:srgbClr val="1A3A5A"/>
          </a:solidFill>
          <a:ln w="12700">
            <a:solidFill>
              <a:srgbClr val="2A5A8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206240"/>
            <a:ext cx="365760" cy="274320"/>
          </a:xfrm>
          <a:prstGeom prst="rect">
            <a:avLst/>
          </a:prstGeom>
          <a:solidFill>
            <a:srgbClr val="12B5C5"/>
          </a:solidFill>
          <a:ln w="12700">
            <a:solidFill>
              <a:srgbClr val="12B5C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4224528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2B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α=0.01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57200" y="4206240"/>
            <a:ext cx="4846320" cy="274320"/>
          </a:xfrm>
          <a:prstGeom prst="rect">
            <a:avLst/>
          </a:prstGeom>
          <a:solidFill>
            <a:srgbClr val="0D7E8C"/>
          </a:solidFill>
          <a:ln w="12700">
            <a:solidFill>
              <a:srgbClr val="0D7E8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94960" y="4224528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α=0.087  (3,000 steps)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during Stage I  ·  Unfrozen in Stage II  ·  Monotonic growth confirms learned correction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12B5C5"/>
          </a:solidFill>
          <a:ln w="12700">
            <a:solidFill>
              <a:srgbClr val="12B5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16459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GS-CLIP Forward Pass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384048" cy="420624"/>
          </a:xfrm>
          <a:prstGeom prst="rect">
            <a:avLst/>
          </a:prstGeom>
          <a:solidFill>
            <a:srgbClr val="0D7E8C"/>
          </a:solidFill>
          <a:ln w="12700">
            <a:solidFill>
              <a:srgbClr val="0D7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22960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850392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Graph:  </a:t>
            </a:r>
            <a:pPr indent="0" marL="0">
              <a:buNone/>
            </a:pPr>
            <a:r>
              <a:rPr lang="en-US" sz="1100" dirty="0">
                <a:solidFill>
                  <a:srgbClr val="A8C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= spaCy(caption)   →   nodes V, typed edges 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12064" y="1243584"/>
            <a:ext cx="0" cy="155448"/>
          </a:xfrm>
          <a:prstGeom prst="line">
            <a:avLst/>
          </a:prstGeom>
          <a:noFill/>
          <a:ln w="19050">
            <a:solidFill>
              <a:srgbClr val="2A50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399032"/>
            <a:ext cx="384048" cy="420624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99032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1426464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 Encoding:  </a:t>
            </a:r>
            <a:pPr indent="0" marL="0">
              <a:buNone/>
            </a:pPr>
            <a:r>
              <a:rPr lang="en-US" sz="1100" dirty="0">
                <a:solidFill>
                  <a:srgbClr val="A8C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H_GNN = GAT³(X_init, edge_index, edge_weight)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12064" y="1819656"/>
            <a:ext cx="0" cy="155448"/>
          </a:xfrm>
          <a:prstGeom prst="line">
            <a:avLst/>
          </a:prstGeom>
          <a:noFill/>
          <a:ln w="19050">
            <a:solidFill>
              <a:srgbClr val="2A50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975104"/>
            <a:ext cx="384048" cy="420624"/>
          </a:xfrm>
          <a:prstGeom prst="rect">
            <a:avLst/>
          </a:prstGeom>
          <a:solidFill>
            <a:srgbClr val="1E6B8C"/>
          </a:solidFill>
          <a:ln w="12700">
            <a:solidFill>
              <a:srgbClr val="1E6B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975104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2002536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Encoding:  </a:t>
            </a:r>
            <a:pPr indent="0" marL="0">
              <a:buNone/>
            </a:pPr>
            <a:r>
              <a:rPr lang="en-US" sz="1100" dirty="0">
                <a:solidFill>
                  <a:srgbClr val="A8C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H_CLIP = TextTransformer(tokens)   [LoRA-adapted MLP layers]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12064" y="2395728"/>
            <a:ext cx="0" cy="155448"/>
          </a:xfrm>
          <a:prstGeom prst="line">
            <a:avLst/>
          </a:prstGeom>
          <a:noFill/>
          <a:ln w="19050">
            <a:solidFill>
              <a:srgbClr val="2A50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551176"/>
            <a:ext cx="384048" cy="420624"/>
          </a:xfrm>
          <a:prstGeom prst="rect">
            <a:avLst/>
          </a:prstGeom>
          <a:solidFill>
            <a:srgbClr val="1A8A5C"/>
          </a:solidFill>
          <a:ln w="12700">
            <a:solidFill>
              <a:srgbClr val="1A8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551176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257860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8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Cross-Attn Fusion:  </a:t>
            </a:r>
            <a:pPr indent="0" marL="0">
              <a:buNone/>
            </a:pPr>
            <a:r>
              <a:rPr lang="en-US" sz="1100" dirty="0">
                <a:solidFill>
                  <a:srgbClr val="A8C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H_fused = H_CLIP + MultiHead(Q=H_CLIP, K/V=H_GNN)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12064" y="2971800"/>
            <a:ext cx="0" cy="155448"/>
          </a:xfrm>
          <a:prstGeom prst="line">
            <a:avLst/>
          </a:prstGeom>
          <a:noFill/>
          <a:ln w="19050">
            <a:solidFill>
              <a:srgbClr val="2A50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127248"/>
            <a:ext cx="384048" cy="420624"/>
          </a:xfrm>
          <a:prstGeom prst="rect">
            <a:avLst/>
          </a:prstGeom>
          <a:solidFill>
            <a:srgbClr val="7A5C9A"/>
          </a:solidFill>
          <a:ln w="12700">
            <a:solidFill>
              <a:srgbClr val="7A5C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127248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" y="315468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EOS Pooling:  </a:t>
            </a:r>
            <a:pPr indent="0" marL="0">
              <a:buNone/>
            </a:pPr>
            <a:r>
              <a:rPr lang="en-US" sz="1100" dirty="0">
                <a:solidFill>
                  <a:srgbClr val="A8C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t_EOS = H_fused[ EOS_position ]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12064" y="3547872"/>
            <a:ext cx="0" cy="155448"/>
          </a:xfrm>
          <a:prstGeom prst="line">
            <a:avLst/>
          </a:prstGeom>
          <a:noFill/>
          <a:ln w="19050">
            <a:solidFill>
              <a:srgbClr val="2A50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3703320"/>
            <a:ext cx="384048" cy="42062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703320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7240" y="3730752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Binding Projection:  </a:t>
            </a:r>
            <a:pPr indent="0" marL="0">
              <a:buNone/>
            </a:pPr>
            <a:r>
              <a:rPr lang="en-US" sz="1100" dirty="0">
                <a:solidFill>
                  <a:srgbClr val="A8C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t_final = (I + α·ΔW) · t_EOS   [Stage II only]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12064" y="4123944"/>
            <a:ext cx="0" cy="155448"/>
          </a:xfrm>
          <a:prstGeom prst="line">
            <a:avLst/>
          </a:prstGeom>
          <a:noFill/>
          <a:ln w="19050">
            <a:solidFill>
              <a:srgbClr val="2A50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4279392"/>
            <a:ext cx="384048" cy="420624"/>
          </a:xfrm>
          <a:prstGeom prst="rect">
            <a:avLst/>
          </a:prstGeom>
          <a:solidFill>
            <a:srgbClr val="12B5C5"/>
          </a:solidFill>
          <a:ln w="12700">
            <a:solidFill>
              <a:srgbClr val="12B5C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279392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77240" y="4306824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B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Normalise:  </a:t>
            </a:r>
            <a:pPr indent="0" marL="0">
              <a:buNone/>
            </a:pPr>
            <a:r>
              <a:rPr lang="en-US" sz="1100" dirty="0">
                <a:solidFill>
                  <a:srgbClr val="A8C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t_final / ‖t_final‖₂   ∈  S^{d-1}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0040" y="4828032"/>
            <a:ext cx="8503920" cy="228600"/>
          </a:xfrm>
          <a:prstGeom prst="rect">
            <a:avLst/>
          </a:prstGeom>
          <a:solidFill>
            <a:srgbClr val="0A1830"/>
          </a:solidFill>
          <a:ln w="12700">
            <a:solidFill>
              <a:srgbClr val="0A183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828032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path: v = L2( ViT-B/32(image) )  — frozen; no modification in either stage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93776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Two-Stage Training Strategy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20040" y="107899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I builds relational geometry; Stage II restores cross-modal alignment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4846320"/>
            <a:ext cx="8503920" cy="0"/>
          </a:xfrm>
          <a:prstGeom prst="line">
            <a:avLst/>
          </a:prstGeom>
          <a:noFill/>
          <a:ln w="9525">
            <a:solidFill>
              <a:srgbClr val="E8EE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489204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GS-CLIP — Shah &amp; Sethi, IIT Bombay — ECCV 2026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298448"/>
            <a:ext cx="8503920" cy="34747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29844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46120" y="129844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I (VG)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89320" y="129844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II (COCO)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1664208"/>
            <a:ext cx="8503920" cy="329184"/>
          </a:xfrm>
          <a:prstGeom prst="rect">
            <a:avLst/>
          </a:prstGeom>
          <a:solidFill>
            <a:srgbClr val="F7F9FC"/>
          </a:solidFill>
          <a:ln w="6350">
            <a:solidFill>
              <a:srgbClr val="E8EE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664208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(3-layer GAT)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91840" y="1664208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🔓 Trainable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035040" y="1664208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Frozen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002536"/>
            <a:ext cx="8503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002536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Cross-Attention Fusion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291840" y="2002536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🔓 Trainable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35040" y="2002536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Frozen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340864"/>
            <a:ext cx="8503920" cy="329184"/>
          </a:xfrm>
          <a:prstGeom prst="rect">
            <a:avLst/>
          </a:prstGeom>
          <a:solidFill>
            <a:srgbClr val="F7F9FC"/>
          </a:solidFill>
          <a:ln w="6350">
            <a:solidFill>
              <a:srgbClr val="E8EE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340864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Adapters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291840" y="2340864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🔓 Trainable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35040" y="2340864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🔓 Trainable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2679192"/>
            <a:ext cx="8503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679192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Binding Projection (α, ΔW)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291840" y="2679192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Frozen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35040" y="2679192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🔓 Trainable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3017520"/>
            <a:ext cx="8503920" cy="329184"/>
          </a:xfrm>
          <a:prstGeom prst="rect">
            <a:avLst/>
          </a:prstGeom>
          <a:solidFill>
            <a:srgbClr val="F7F9FC"/>
          </a:solidFill>
          <a:ln w="6350">
            <a:solidFill>
              <a:srgbClr val="E8EEF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017520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Encoder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291840" y="3017520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Frozen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035040" y="3017520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Frozen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3355848"/>
            <a:ext cx="8503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355848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291840" y="3355848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Genome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(~50K pairs)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035040" y="3355848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MS-COCO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(~118K pairs)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0040" y="3694176"/>
            <a:ext cx="8503920" cy="329184"/>
          </a:xfrm>
          <a:prstGeom prst="rect">
            <a:avLst/>
          </a:prstGeom>
          <a:solidFill>
            <a:srgbClr val="F7F9FC"/>
          </a:solidFill>
          <a:ln w="6350">
            <a:solidFill>
              <a:srgbClr val="E8EEF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3694176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291840" y="3694176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(bidirectional)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035040" y="3694176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5-term composite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(Lₛₜᵣᵤ꜀ₜ + Lₕₙₑ꜀ + …)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0040" y="4032504"/>
            <a:ext cx="8503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032504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3291840" y="4032504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· lr 1e-4 / 5e-5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035040" y="4032504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· lr 3e-5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20040" y="4370832"/>
            <a:ext cx="8503920" cy="329184"/>
          </a:xfrm>
          <a:prstGeom prst="rect">
            <a:avLst/>
          </a:prstGeom>
          <a:solidFill>
            <a:srgbClr val="F7F9FC"/>
          </a:solidFill>
          <a:ln w="6350">
            <a:solidFill>
              <a:srgbClr val="E8EEF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370832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/ Steps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3291840" y="4370832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20K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035040" y="4370832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/ 7,392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0D7E8C"/>
          </a:solidFill>
          <a:ln w="12700">
            <a:solidFill>
              <a:srgbClr val="0D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— STAGE 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93776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I: Visual Genome Contrastive Pre-Training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20040" y="107899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· Cross-Attention · LoRA trained jointly on VG scene-graph image-region pairs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4846320"/>
            <a:ext cx="8503920" cy="0"/>
          </a:xfrm>
          <a:prstGeom prst="line">
            <a:avLst/>
          </a:prstGeom>
          <a:noFill/>
          <a:ln w="9525">
            <a:solidFill>
              <a:srgbClr val="E8EE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489204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GS-CLIP — Shah &amp; Sethi, IIT Bombay — ECCV 2026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280160"/>
            <a:ext cx="1572768" cy="822960"/>
          </a:xfrm>
          <a:prstGeom prst="rect">
            <a:avLst/>
          </a:prstGeom>
          <a:solidFill>
            <a:srgbClr val="F7F9FC"/>
          </a:solidFill>
          <a:ln w="9525">
            <a:solidFill>
              <a:srgbClr val="D8E4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1298448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(GNN/CA)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1554480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7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× 10⁻⁴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011680" y="1280160"/>
            <a:ext cx="1572768" cy="822960"/>
          </a:xfrm>
          <a:prstGeom prst="rect">
            <a:avLst/>
          </a:prstGeom>
          <a:solidFill>
            <a:srgbClr val="F7F9FC"/>
          </a:solidFill>
          <a:ln w="9525">
            <a:solidFill>
              <a:srgbClr val="D8E4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011680" y="1298448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(LoRA)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011680" y="1554480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× 10⁻⁵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703320" y="1280160"/>
            <a:ext cx="1572768" cy="822960"/>
          </a:xfrm>
          <a:prstGeom prst="rect">
            <a:avLst/>
          </a:prstGeom>
          <a:solidFill>
            <a:srgbClr val="F7F9FC"/>
          </a:solidFill>
          <a:ln w="9525">
            <a:solidFill>
              <a:srgbClr val="D8E4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03320" y="1298448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703320" y="1554480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394960" y="1280160"/>
            <a:ext cx="1572768" cy="822960"/>
          </a:xfrm>
          <a:prstGeom prst="rect">
            <a:avLst/>
          </a:prstGeom>
          <a:solidFill>
            <a:srgbClr val="F7F9FC"/>
          </a:solidFill>
          <a:ln w="9525">
            <a:solidFill>
              <a:srgbClr val="D8E4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94960" y="1298448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94960" y="1554480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9B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AdamW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086600" y="1280160"/>
            <a:ext cx="1572768" cy="822960"/>
          </a:xfrm>
          <a:prstGeom prst="rect">
            <a:avLst/>
          </a:prstGeom>
          <a:solidFill>
            <a:srgbClr val="F7F9FC"/>
          </a:solidFill>
          <a:ln w="9525">
            <a:solidFill>
              <a:srgbClr val="D8E4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086600" y="1298448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086600" y="1554480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9B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OneCycleLR</a:t>
            </a:r>
            <a:endParaRPr lang="en-US" sz="14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320040" y="2240280"/>
          <a:ext cx="502920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4" name="Shape 21"/>
          <p:cNvSpPr/>
          <p:nvPr/>
        </p:nvSpPr>
        <p:spPr>
          <a:xfrm>
            <a:off x="5532120" y="2240280"/>
            <a:ext cx="3291840" cy="2331720"/>
          </a:xfrm>
          <a:prstGeom prst="rect">
            <a:avLst/>
          </a:prstGeom>
          <a:solidFill>
            <a:srgbClr val="EFF4FA"/>
          </a:solidFill>
          <a:ln w="9525">
            <a:solidFill>
              <a:srgbClr val="D8E4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5623560" y="230428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VG Training Example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623560" y="2633472"/>
            <a:ext cx="3108960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623560" y="263347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region: [dog chasing cat]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623560" y="3017520"/>
            <a:ext cx="3108960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623560" y="301752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Caption: "a dog chasing a cat"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623560" y="3401568"/>
            <a:ext cx="3108960" cy="5486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623560" y="3401568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B5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SPO triple: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2B5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dog → chases → cat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— STAGE II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93776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II: Five-Term Composite Objective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20040" y="107899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term targets a specific failure mode · GNN/Cross-Attn frozen; only LoRA + binding updated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4846320"/>
            <a:ext cx="8503920" cy="0"/>
          </a:xfrm>
          <a:prstGeom prst="line">
            <a:avLst/>
          </a:prstGeom>
          <a:noFill/>
          <a:ln w="9525">
            <a:solidFill>
              <a:srgbClr val="E8EE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489204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GS-CLIP — Shah &amp; Sethi, IIT Bombay — ECCV 2026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280160"/>
            <a:ext cx="8503920" cy="530352"/>
          </a:xfrm>
          <a:prstGeom prst="rect">
            <a:avLst/>
          </a:prstGeom>
          <a:solidFill>
            <a:srgbClr val="EFF4FA"/>
          </a:solidFill>
          <a:ln w="9525">
            <a:solidFill>
              <a:srgbClr val="D8E4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316736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  =  λₛ·Lₛₜᵣᵤ꜀ₜ  +  λₕ·Lₕₙₑ꜀  +  λᵢ·Lᵢₛₒ  +  λᵣ·Lᵣₑₗ  +  λ_d·Lₛᵢₙ꜀ₗₑ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0040" y="1920240"/>
            <a:ext cx="85039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920240"/>
            <a:ext cx="54864" cy="475488"/>
          </a:xfrm>
          <a:prstGeom prst="rect">
            <a:avLst/>
          </a:prstGeom>
          <a:solidFill>
            <a:srgbClr val="0D7E8C"/>
          </a:solidFill>
          <a:ln w="12700">
            <a:solidFill>
              <a:srgbClr val="0D7E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956816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Lₛₜᵣᵤ꜀ₜ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481328" y="1956816"/>
            <a:ext cx="640080" cy="402336"/>
          </a:xfrm>
          <a:prstGeom prst="rect">
            <a:avLst/>
          </a:prstGeom>
          <a:solidFill>
            <a:srgbClr val="0D7E8C"/>
          </a:solidFill>
          <a:ln w="12700">
            <a:solidFill>
              <a:srgbClr val="0D7E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81328" y="1956816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λ=1.0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40280" y="1956816"/>
            <a:ext cx="6446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WL-reweighted InfoNCE — </a:t>
            </a:r>
            <a:pPr indent="0" marL="0">
              <a:buNone/>
            </a:pPr>
            <a:r>
              <a:rPr lang="en-US" sz="10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similar captions get harder contrastive penalty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450592"/>
            <a:ext cx="85039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450592"/>
            <a:ext cx="54864" cy="475488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487168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Lₕₙₑ꜀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481328" y="2487168"/>
            <a:ext cx="640080" cy="402336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81328" y="2487168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λ=1.0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40280" y="2487168"/>
            <a:ext cx="6446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hard-negative — </a:t>
            </a:r>
            <a:pPr indent="0" marL="0">
              <a:buNone/>
            </a:pPr>
            <a:r>
              <a:rPr lang="en-US" sz="10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 two images, swap noun → model must reject it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2980944"/>
            <a:ext cx="85039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2980944"/>
            <a:ext cx="54864" cy="475488"/>
          </a:xfrm>
          <a:prstGeom prst="rect">
            <a:avLst/>
          </a:prstGeom>
          <a:solidFill>
            <a:srgbClr val="1E6B8C"/>
          </a:solidFill>
          <a:ln w="12700">
            <a:solidFill>
              <a:srgbClr val="1E6B8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017520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Lᵢₛₒ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481328" y="3017520"/>
            <a:ext cx="640080" cy="402336"/>
          </a:xfrm>
          <a:prstGeom prst="rect">
            <a:avLst/>
          </a:prstGeom>
          <a:solidFill>
            <a:srgbClr val="1E6B8C"/>
          </a:solidFill>
          <a:ln w="12700">
            <a:solidFill>
              <a:srgbClr val="1E6B8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81328" y="3017520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λ=0.5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240280" y="3017520"/>
            <a:ext cx="6446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Same-image caption pull — </a:t>
            </a:r>
            <a:pPr indent="0" marL="0">
              <a:buNone/>
            </a:pPr>
            <a:r>
              <a:rPr lang="en-US" sz="10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captions of same image attracted ∝ WL graph similarity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" y="3511296"/>
            <a:ext cx="85039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3511296"/>
            <a:ext cx="54864" cy="47548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547872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Lᵣₑₗ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481328" y="3547872"/>
            <a:ext cx="640080" cy="40233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81328" y="3547872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λ=0.5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240280" y="3547872"/>
            <a:ext cx="6446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Token-pair hinge — </a:t>
            </a:r>
            <a:pPr indent="0" marL="0">
              <a:buNone/>
            </a:pPr>
            <a:r>
              <a:rPr lang="en-US" sz="10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Dep-edge-connected token pairs maintain correlated hidden states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20040" y="4041648"/>
            <a:ext cx="85039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" y="4041648"/>
            <a:ext cx="54864" cy="47548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078224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Lₛᵢₙ꜀ₗₑ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1481328" y="4078224"/>
            <a:ext cx="640080" cy="402336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481328" y="4078224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λ=1.0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240280" y="4078224"/>
            <a:ext cx="6446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prevention — </a:t>
            </a:r>
            <a:pPr indent="0" marL="0">
              <a:buNone/>
            </a:pPr>
            <a:r>
              <a:rPr lang="en-US" sz="10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InfoNCE on single COCO images — prevents forgetting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20040" y="461772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lr=3×10⁻⁵  ·  7,392 steps  ·  3 epochs  ·  batch=128  ·  fp16 mixed precision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— STAGE II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93776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II Training Curves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20040" y="107899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GC-CLIP training — total loss, Lₛₜᵣᵤ꜀ₜ, and binding gate α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4846320"/>
            <a:ext cx="8503920" cy="0"/>
          </a:xfrm>
          <a:prstGeom prst="line">
            <a:avLst/>
          </a:prstGeom>
          <a:noFill/>
          <a:ln w="9525">
            <a:solidFill>
              <a:srgbClr val="E8EE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489204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GS-CLIP — Shah &amp; Sethi, IIT Bombay — ECCV 2026</a:t>
            </a:r>
            <a:endParaRPr lang="en-US" sz="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61872"/>
            <a:ext cx="8503920" cy="23774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20040" y="3794760"/>
            <a:ext cx="27432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" y="3794760"/>
            <a:ext cx="54864" cy="777240"/>
          </a:xfrm>
          <a:prstGeom prst="rect">
            <a:avLst/>
          </a:prstGeom>
          <a:solidFill>
            <a:srgbClr val="0D7E8C"/>
          </a:solidFill>
          <a:ln w="12700">
            <a:solidFill>
              <a:srgbClr val="0D7E8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38404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Loss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4114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 → 3.2 (clean descent)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46120" y="3794760"/>
            <a:ext cx="27432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46120" y="3794760"/>
            <a:ext cx="54864" cy="77724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83280" y="38404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Lₛₜᵣᵤ꜀ₜ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383280" y="4114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 → 1.1 (WL-weighted InfoNCE converges)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172200" y="3794760"/>
            <a:ext cx="27432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172200" y="3794760"/>
            <a:ext cx="54864" cy="7772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09360" y="38404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 gate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309360" y="4114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at 0.010 — early stage training; grows in final run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TRIED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93776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Failed Approach 1: Additive Graph-Bias Injection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20040" y="107899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Inserting dep-adjacency as additive bias to CLIP's self-attention weights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4846320"/>
            <a:ext cx="8503920" cy="0"/>
          </a:xfrm>
          <a:prstGeom prst="line">
            <a:avLst/>
          </a:prstGeom>
          <a:noFill/>
          <a:ln w="9525">
            <a:solidFill>
              <a:srgbClr val="E8EE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489204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GS-CLIP — Shah &amp; Sethi, IIT Bombay — ECCV 2026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280160"/>
            <a:ext cx="4114800" cy="1280160"/>
          </a:xfrm>
          <a:prstGeom prst="rect">
            <a:avLst/>
          </a:prstGeom>
          <a:solidFill>
            <a:srgbClr val="EFF4FA"/>
          </a:solidFill>
          <a:ln w="9525">
            <a:solidFill>
              <a:srgbClr val="D8E4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3258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Idea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627632"/>
            <a:ext cx="38404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A_modified = A_CLIP + β · A_dep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adjacency matrix directly 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to self-attention scores.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architecture change.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280160"/>
            <a:ext cx="4114800" cy="1280160"/>
          </a:xfrm>
          <a:prstGeom prst="rect">
            <a:avLst/>
          </a:prstGeom>
          <a:solidFill>
            <a:srgbClr val="FFF0F0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3258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Failed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1627632"/>
            <a:ext cx="38404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Overwrites pretrained attention patterns.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Vision-text alignment destroyed.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Winoground image score: &lt; 1%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(CLIP baseline: 11.0%)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60520" y="1298448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60520" y="1298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20040" y="2724912"/>
            <a:ext cx="8503920" cy="987552"/>
          </a:xfrm>
          <a:prstGeom prst="rect">
            <a:avLst/>
          </a:prstGeom>
          <a:solidFill>
            <a:srgbClr val="EFF4FA"/>
          </a:solidFill>
          <a:ln w="19050">
            <a:solidFill>
              <a:srgbClr val="0D7E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77063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11680" y="2743200"/>
            <a:ext cx="66751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CLIP's pretrained attention patterns encode powerful semantic structure. Any injection must be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non-destructive. This motivated the residual cross-attention design: H_fused = H_CLIP + ΔH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ΔH = cross-attention(GNN). The original H_CLIP is always preserved.</a:t>
            </a:r>
            <a:endParaRPr lang="en-US" sz="11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3794760"/>
            <a:ext cx="4572000" cy="9144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074920" y="393192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KL(P_graph ‖ Q_attn) converges cleanly — but the wrong target leads to entity detection, not role discrimination.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TRIED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93776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Failed Approach 2: KL-Divergence Attention Supervision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20040" y="107899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 one attention head to match dependency adjacency via KL divergence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4846320"/>
            <a:ext cx="8503920" cy="0"/>
          </a:xfrm>
          <a:prstGeom prst="line">
            <a:avLst/>
          </a:prstGeom>
          <a:noFill/>
          <a:ln w="9525">
            <a:solidFill>
              <a:srgbClr val="E8EE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489204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GS-CLIP — Shah &amp; Sethi, IIT Bombay — ECCV 2026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280160"/>
            <a:ext cx="4114800" cy="2011680"/>
          </a:xfrm>
          <a:prstGeom prst="rect">
            <a:avLst/>
          </a:prstGeom>
          <a:solidFill>
            <a:srgbClr val="EFF4FA"/>
          </a:solidFill>
          <a:ln w="9525">
            <a:solidFill>
              <a:srgbClr val="D8E4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3258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Idea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618488"/>
            <a:ext cx="3840480" cy="1581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L_KL = KL( P_graph ‖ Q_attn 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P_graph = row-normalised adjacency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Q_attn = target head attention weights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~65K trainable params.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converges: 0.82 → 0.09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280160"/>
            <a:ext cx="4114800" cy="2011680"/>
          </a:xfrm>
          <a:prstGeom prst="rect">
            <a:avLst/>
          </a:prstGeom>
          <a:solidFill>
            <a:srgbClr val="FFF0F0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3258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 Cause of Failure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1618488"/>
            <a:ext cx="3840480" cy="1581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adjacency A[i,j] = A[j,i]:
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"dog→chases" and "chases→dog"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have equal probability mass.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learns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detection,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role discrimination.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4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Winoground group score: 8.2%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4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(only marginal vs CLIP 8.75%)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429000"/>
            <a:ext cx="8503920" cy="914400"/>
          </a:xfrm>
          <a:prstGeom prst="rect">
            <a:avLst/>
          </a:prstGeom>
          <a:solidFill>
            <a:srgbClr val="EFF4FA"/>
          </a:solidFill>
          <a:ln w="19050">
            <a:solidFill>
              <a:srgbClr val="E8A0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747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11680" y="3447288"/>
            <a:ext cx="6675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role discrimination you need asymmetric, directed supervision — not just knowing nodes are connected, but which direction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relation flows. GAT with directed edges + LoRA backbone adaptation is the right level of structural injection.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60520" y="3447288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60520" y="34472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4462272"/>
            <a:ext cx="4023360" cy="56692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526280" y="452628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loss converges perfectly to 0.09 — but convergence on the wrong target is not improvement.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93776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Embedding Collapse — Fixed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20040" y="107899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metric: Intra-Predicate Similarity (IPS) ↓  and  Random-pair similarity ↓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4846320"/>
            <a:ext cx="8503920" cy="0"/>
          </a:xfrm>
          <a:prstGeom prst="line">
            <a:avLst/>
          </a:prstGeom>
          <a:noFill/>
          <a:ln w="9525">
            <a:solidFill>
              <a:srgbClr val="E8EE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489204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GS-CLIP — Shah &amp; Sethi, IIT Bombay — ECCV 2026</a:t>
            </a:r>
            <a:endParaRPr lang="en-US" sz="8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261872"/>
          <a:ext cx="53035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5852160" y="1261872"/>
            <a:ext cx="141732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897880" y="1335024"/>
            <a:ext cx="1325880" cy="60990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7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61%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5925312" y="1913839"/>
            <a:ext cx="1271016" cy="3154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 reduction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CLIP ViT-B/32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7406640" y="1261872"/>
            <a:ext cx="141732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452360" y="1335024"/>
            <a:ext cx="1325880" cy="60990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21×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7479792" y="1913839"/>
            <a:ext cx="1271016" cy="3154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Discriminability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852160" y="2423160"/>
            <a:ext cx="141732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897880" y="2496312"/>
            <a:ext cx="1325880" cy="583387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0.029</a:t>
            </a:r>
            <a:endParaRPr lang="en-US" sz="3600" dirty="0"/>
          </a:p>
        </p:txBody>
      </p:sp>
      <p:sp>
        <p:nvSpPr>
          <p:cNvPr id="17" name="Text 14"/>
          <p:cNvSpPr/>
          <p:nvPr/>
        </p:nvSpPr>
        <p:spPr>
          <a:xfrm>
            <a:off x="5925312" y="3046781"/>
            <a:ext cx="1271016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Δ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(near-zero)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7406640" y="2423160"/>
            <a:ext cx="141732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452360" y="2496312"/>
            <a:ext cx="1325880" cy="583387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7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0.621</a:t>
            </a:r>
            <a:endParaRPr lang="en-US" sz="3600" dirty="0"/>
          </a:p>
        </p:txBody>
      </p:sp>
      <p:sp>
        <p:nvSpPr>
          <p:cNvPr id="20" name="Text 17"/>
          <p:cNvSpPr/>
          <p:nvPr/>
        </p:nvSpPr>
        <p:spPr>
          <a:xfrm>
            <a:off x="7479792" y="3046781"/>
            <a:ext cx="1271016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GS-CLIP Δ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(strong sep.)</a:t>
            </a:r>
            <a:endParaRPr lang="en-US" sz="95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3703320"/>
            <a:ext cx="8503920" cy="137160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20040" y="4681728"/>
            <a:ext cx="8503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Per-predicate IPS (left)  ·  Full similarity distribution (center)  ·  Retrieval vs same-predicate pool size (right)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93776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Text-Space Discrimination (No Images)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20040" y="107899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 isolated to text encoder — independent of visual grounding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4846320"/>
            <a:ext cx="8503920" cy="0"/>
          </a:xfrm>
          <a:prstGeom prst="line">
            <a:avLst/>
          </a:prstGeom>
          <a:noFill/>
          <a:ln w="9525">
            <a:solidFill>
              <a:srgbClr val="E8EE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489204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GS-CLIP — Shah &amp; Sethi, IIT Bombay — ECCV 2026</a:t>
            </a:r>
            <a:endParaRPr lang="en-US" sz="8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261872"/>
          <a:ext cx="54864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5989320" y="1261872"/>
            <a:ext cx="28346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035040" y="1335024"/>
            <a:ext cx="2743200" cy="46671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7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+30.4pp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6062472" y="1760769"/>
            <a:ext cx="2688336" cy="2414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Role-swap detection win rate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989320" y="2176272"/>
            <a:ext cx="28346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035040" y="2249424"/>
            <a:ext cx="2743200" cy="46671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3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3×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6062472" y="2675169"/>
            <a:ext cx="2688336" cy="2414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Forced-choice discrimination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989320" y="3090672"/>
            <a:ext cx="28346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035040" y="3163824"/>
            <a:ext cx="2743200" cy="46671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+57pp</a:t>
            </a:r>
            <a:endParaRPr lang="en-US" sz="3600" dirty="0"/>
          </a:p>
        </p:txBody>
      </p:sp>
      <p:sp>
        <p:nvSpPr>
          <p:cNvPr id="17" name="Text 14"/>
          <p:cNvSpPr/>
          <p:nvPr/>
        </p:nvSpPr>
        <p:spPr>
          <a:xfrm>
            <a:off x="6062472" y="3589569"/>
            <a:ext cx="2688336" cy="2414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SVO discrimination win rate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989320" y="4005072"/>
            <a:ext cx="28346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035040" y="4078224"/>
            <a:ext cx="2743200" cy="46671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7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19/20</a:t>
            </a:r>
            <a:endParaRPr lang="en-US" sz="3600" dirty="0"/>
          </a:p>
        </p:txBody>
      </p:sp>
      <p:sp>
        <p:nvSpPr>
          <p:cNvPr id="20" name="Text 17"/>
          <p:cNvSpPr/>
          <p:nvPr/>
        </p:nvSpPr>
        <p:spPr>
          <a:xfrm>
            <a:off x="6062472" y="4503969"/>
            <a:ext cx="2688336" cy="2414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pairs improved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93776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ARO Benchmark: VG-Relation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20040" y="107899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GS-CLIP achieves 88.95% vs 54.35% for CLIP on reconstructed evaluation set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4846320"/>
            <a:ext cx="8503920" cy="0"/>
          </a:xfrm>
          <a:prstGeom prst="line">
            <a:avLst/>
          </a:prstGeom>
          <a:noFill/>
          <a:ln w="9525">
            <a:solidFill>
              <a:srgbClr val="E8EE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489204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GS-CLIP — Shah &amp; Sethi, IIT Bombay — ECCV 2026</a:t>
            </a:r>
            <a:endParaRPr lang="en-US" sz="8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261872"/>
          <a:ext cx="62179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6812280" y="1261872"/>
            <a:ext cx="20116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858000" y="1335024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7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+29pp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6885432" y="1828800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CLIP ViT-B/32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812280" y="2304288"/>
            <a:ext cx="20116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858000" y="2377440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+8.95pp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6885432" y="2871216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CLIC-RedCaps (SOTA)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812280" y="3337560"/>
            <a:ext cx="2011680" cy="1216152"/>
          </a:xfrm>
          <a:prstGeom prst="rect">
            <a:avLst/>
          </a:prstGeom>
          <a:solidFill>
            <a:srgbClr val="FFF8E0"/>
          </a:solidFill>
          <a:ln w="19050">
            <a:solidFill>
              <a:srgbClr val="E8A02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0" y="3364992"/>
            <a:ext cx="19202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Caveat
</a:t>
            </a:r>
            <a:pPr indent="0" marL="0">
              <a:buNone/>
            </a:pPr>
            <a:r>
              <a:rPr lang="en-US" sz="850" dirty="0">
                <a:solidFill>
                  <a:srgbClr val="4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Reconstructed set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4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(n=15,000, seed=42).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4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CLIP: 54.35% vs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4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59.9%.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4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Cross-row comparisons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4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approximate.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93776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COCO-1K Retrieval: Degradation and Recovery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20040" y="107899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I remaps text space toward VG format; Stage II partially recovers general retrieval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4846320"/>
            <a:ext cx="8503920" cy="0"/>
          </a:xfrm>
          <a:prstGeom prst="line">
            <a:avLst/>
          </a:prstGeom>
          <a:noFill/>
          <a:ln w="9525">
            <a:solidFill>
              <a:srgbClr val="E8EE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489204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GS-CLIP — Shah &amp; Sethi, IIT Bombay — ECCV 2026</a:t>
            </a:r>
            <a:endParaRPr lang="en-US" sz="8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261872"/>
          <a:ext cx="47548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5166360" y="1261872"/>
            <a:ext cx="3657600" cy="384048"/>
          </a:xfrm>
          <a:prstGeom prst="rect">
            <a:avLst/>
          </a:prstGeom>
          <a:solidFill>
            <a:srgbClr val="0F1F3D"/>
          </a:solidFill>
          <a:ln w="6350">
            <a:solidFill>
              <a:srgbClr val="E8EEF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166360" y="1261872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080760" y="1261872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CLIP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995160" y="1261872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I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909560" y="1261872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II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166360" y="1664208"/>
            <a:ext cx="3657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166360" y="166420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i2t R@1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080760" y="166420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69.0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995160" y="166420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25.3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909560" y="166420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7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32.9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166360" y="2066544"/>
            <a:ext cx="3657600" cy="384048"/>
          </a:xfrm>
          <a:prstGeom prst="rect">
            <a:avLst/>
          </a:prstGeom>
          <a:solidFill>
            <a:srgbClr val="F7F9FC"/>
          </a:solidFill>
          <a:ln w="6350">
            <a:solidFill>
              <a:srgbClr val="E8EEF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166360" y="2066544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i2t R@5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080760" y="2066544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90.8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995160" y="2066544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51.1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909560" y="2066544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7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63.3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166360" y="2468880"/>
            <a:ext cx="3657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166360" y="246888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t2i R@1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080760" y="246888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49.6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995160" y="246888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13.5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7909560" y="246888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7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19.7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166360" y="2871216"/>
            <a:ext cx="3657600" cy="384048"/>
          </a:xfrm>
          <a:prstGeom prst="rect">
            <a:avLst/>
          </a:prstGeom>
          <a:solidFill>
            <a:srgbClr val="F7F9FC"/>
          </a:solidFill>
          <a:ln w="6350">
            <a:solidFill>
              <a:srgbClr val="E8EEF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166360" y="2871216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t2i R@5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080760" y="2871216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78.8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6995160" y="2871216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36.9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7909560" y="2871216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7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48.3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5166360" y="3273552"/>
            <a:ext cx="3657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4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166360" y="3273552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RSUM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6080760" y="3273552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472.3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6995160" y="3273552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246.9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7909560" y="3273552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7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306.2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320040" y="4096512"/>
            <a:ext cx="475488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320040" y="4096512"/>
            <a:ext cx="54864" cy="71323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57200" y="4133088"/>
            <a:ext cx="4480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I degradation is expected and diagnostic — quantifies the cost of specialising text encoder toward VG relational format. Stage II CLIC fine-tuning recovers 26% of lost RSUM while preserving relational geometry (VG sim 0.271 vs 0.810 baseline).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93776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Winoground: An Honest Assessment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20040" y="107899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I regresses — but this is a visual grounding bottleneck, not an encoder failure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4846320"/>
            <a:ext cx="8503920" cy="0"/>
          </a:xfrm>
          <a:prstGeom prst="line">
            <a:avLst/>
          </a:prstGeom>
          <a:noFill/>
          <a:ln w="9525">
            <a:solidFill>
              <a:srgbClr val="E8EE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489204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GS-CLIP — Shah &amp; Sethi, IIT Bombay — ECCV 2026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261872"/>
            <a:ext cx="5669280" cy="411480"/>
          </a:xfrm>
          <a:prstGeom prst="rect">
            <a:avLst/>
          </a:prstGeom>
          <a:solidFill>
            <a:srgbClr val="0F1F3D"/>
          </a:solidFill>
          <a:ln w="6350">
            <a:solidFill>
              <a:srgbClr val="E8EE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261872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737360" y="1261872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(%)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154680" y="1261872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(%)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0" y="1261872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(%)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1691640"/>
            <a:ext cx="56692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69164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ViT-B/32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737360" y="169164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154680" y="169164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11.0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0" y="169164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8.7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2121408"/>
            <a:ext cx="5669280" cy="411480"/>
          </a:xfrm>
          <a:prstGeom prst="rect">
            <a:avLst/>
          </a:prstGeom>
          <a:solidFill>
            <a:srgbClr val="F7F9FC"/>
          </a:solidFill>
          <a:ln w="6350">
            <a:solidFill>
              <a:srgbClr val="E8EE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12140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NegCLIP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737360" y="212140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30.2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154680" y="212140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11.0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0" y="212140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2551176"/>
            <a:ext cx="56692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2551176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CLIC-COCO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737360" y="2551176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31.0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154680" y="2551176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13.5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0" y="2551176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" y="2980944"/>
            <a:ext cx="5669280" cy="411480"/>
          </a:xfrm>
          <a:prstGeom prst="rect">
            <a:avLst/>
          </a:prstGeom>
          <a:solidFill>
            <a:srgbClr val="F7F9FC"/>
          </a:solidFill>
          <a:ln w="6350">
            <a:solidFill>
              <a:srgbClr val="E8EEF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2980944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CLIC-RedCaps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737360" y="2980944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32.2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154680" y="2980944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12.2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0" y="2980944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10.7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20040" y="3410712"/>
            <a:ext cx="5669280" cy="411480"/>
          </a:xfrm>
          <a:prstGeom prst="rect">
            <a:avLst/>
          </a:prstGeom>
          <a:solidFill>
            <a:srgbClr val="FFF3CD"/>
          </a:solidFill>
          <a:ln w="6350">
            <a:solidFill>
              <a:srgbClr val="E8EEF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3410712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GS-CLIP Stage I (ours)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737360" y="3410712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14.5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154680" y="3410712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72000" y="3410712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20040" y="3840480"/>
            <a:ext cx="5669280" cy="411480"/>
          </a:xfrm>
          <a:prstGeom prst="rect">
            <a:avLst/>
          </a:prstGeom>
          <a:solidFill>
            <a:srgbClr val="FFF3CD"/>
          </a:solidFill>
          <a:ln w="6350">
            <a:solidFill>
              <a:srgbClr val="E8EEF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384048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GS-CLIP Stage II (CLIC-full)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1737360" y="384048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8.75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154680" y="384048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6.75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572000" y="384048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3.25</a:t>
            </a:r>
            <a:endParaRPr lang="en-US" sz="1050" dirty="0"/>
          </a:p>
        </p:txBody>
      </p:sp>
      <p:pic>
        <p:nvPicPr>
          <p:cNvPr id="4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261872"/>
            <a:ext cx="2651760" cy="1051560"/>
          </a:xfrm>
          <a:prstGeom prst="rect">
            <a:avLst/>
          </a:prstGeom>
        </p:spPr>
      </p:pic>
      <p:sp>
        <p:nvSpPr>
          <p:cNvPr id="44" name="Text 41"/>
          <p:cNvSpPr/>
          <p:nvPr/>
        </p:nvSpPr>
        <p:spPr>
          <a:xfrm>
            <a:off x="6172200" y="235000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(n=369): cos sim &gt; 0.95 — captions indistinguishable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4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(n=31): cos sim ~ 0.925 — confirms collapse drives failures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320040" y="4187952"/>
            <a:ext cx="8503920" cy="804672"/>
          </a:xfrm>
          <a:prstGeom prst="rect">
            <a:avLst/>
          </a:prstGeom>
          <a:solidFill>
            <a:srgbClr val="EFF4FA"/>
          </a:solidFill>
          <a:ln w="19050">
            <a:solidFill>
              <a:srgbClr val="0D7E8C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57200" y="4215384"/>
            <a:ext cx="8321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</a:t>
            </a:r>
            <a:pPr indent="0" marL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score (4.0% vs 11.0%) reveals the </a:t>
            </a:r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image encoder </a:t>
            </a:r>
            <a:pPr indent="0" marL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primary bottleneck. Text-space tasks improve; Winoground requires both encoders for visual role discrimination. Jointly fine-tuning the vision encoder is the clear next step.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93776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Same-Predicate Hard Retrieval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20040" y="107899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Image→text retrieval where all distractors share the same predicate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4846320"/>
            <a:ext cx="8503920" cy="0"/>
          </a:xfrm>
          <a:prstGeom prst="line">
            <a:avLst/>
          </a:prstGeom>
          <a:noFill/>
          <a:ln w="9525">
            <a:solidFill>
              <a:srgbClr val="E8EE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489204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GS-CLIP — Shah &amp; Sethi, IIT Bombay — ECCV 2026</a:t>
            </a:r>
            <a:endParaRPr lang="en-US" sz="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61872"/>
            <a:ext cx="8503920" cy="32461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457200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+0.6pp (N=2)  ·  +3.0pp (N=3)  ·  –0.8pp (N=5)  ·  +1.0pp (N=10)  ·  Most gains on wearing (+9pp), between, playing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93776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Model Learned: Intrinsic Analysis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4846320"/>
            <a:ext cx="8503920" cy="0"/>
          </a:xfrm>
          <a:prstGeom prst="line">
            <a:avLst/>
          </a:prstGeom>
          <a:noFill/>
          <a:ln w="9525">
            <a:solidFill>
              <a:srgbClr val="E8EE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89204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GS-CLIP — Shah &amp; Sethi, IIT Bombay — ECCV 2026</a:t>
            </a:r>
            <a:endParaRPr lang="en-US" sz="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61872"/>
            <a:ext cx="8503920" cy="32461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20040" y="4572000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20040" y="4572000"/>
            <a:ext cx="54864" cy="384048"/>
          </a:xfrm>
          <a:prstGeom prst="rect">
            <a:avLst/>
          </a:prstGeom>
          <a:solidFill>
            <a:srgbClr val="0D7E8C"/>
          </a:solidFill>
          <a:ln w="12700">
            <a:solidFill>
              <a:srgbClr val="0D7E8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4581144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= 0.503 — </a:t>
            </a:r>
            <a:pPr indent="0" marL="0">
              <a:buNone/>
            </a:pPr>
            <a:r>
              <a:rPr lang="en-US" sz="9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CLIP+GNN blend Neither collapsed to 0 nor 1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246120" y="4572000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4572000"/>
            <a:ext cx="54864" cy="384048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83280" y="4581144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norm = 27.8 — </a:t>
            </a:r>
            <a:pPr indent="0" marL="0">
              <a:buNone/>
            </a:pPr>
            <a:r>
              <a:rPr lang="en-US" sz="9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 backbone change Monotonic increase layers 0→10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172200" y="4572000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172200" y="4572000"/>
            <a:ext cx="54864" cy="38404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09360" y="4581144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10-way R@1: 80% — </a:t>
            </a:r>
            <a:pPr indent="0" marL="0">
              <a:buNone/>
            </a:pPr>
            <a:r>
              <a:rPr lang="en-US" sz="9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CLIP 60% — structural retrieval significantly better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93776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IPS as a Cheap Proxy for Compositional Capability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20040" y="107899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IPS at training time reliably predicts better downstream task performance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4846320"/>
            <a:ext cx="8503920" cy="0"/>
          </a:xfrm>
          <a:prstGeom prst="line">
            <a:avLst/>
          </a:prstGeom>
          <a:noFill/>
          <a:ln w="9525">
            <a:solidFill>
              <a:srgbClr val="E8EE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489204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GS-CLIP — Shah &amp; Sethi, IIT Bombay — ECCV 2026</a:t>
            </a:r>
            <a:endParaRPr lang="en-US" sz="8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261872"/>
          <a:ext cx="530352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5806440" y="1261872"/>
            <a:ext cx="3017520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806440" y="1261872"/>
            <a:ext cx="54864" cy="987552"/>
          </a:xfrm>
          <a:prstGeom prst="rect">
            <a:avLst/>
          </a:prstGeom>
          <a:solidFill>
            <a:srgbClr val="0D7E8C"/>
          </a:solidFill>
          <a:ln w="12700">
            <a:solidFill>
              <a:srgbClr val="0D7E8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0" y="13075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without benchmarking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943600" y="160020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 computed on 1,500 diagnostic pairs (seconds) correlates with ARO, VG retrieval, SVO win-rate across all checkpoints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806440" y="2359152"/>
            <a:ext cx="3017520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806440" y="2359152"/>
            <a:ext cx="54864" cy="9875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0" y="24048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Monotonic relationship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943600" y="269748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IPS → better forced-choice detection, better hard-retrieval, better ARO. Effect size: 61% IPS reduction → +3pp VG R@1, +9pp wearing structured retrieval, 3× forced-choice rate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806440" y="3456432"/>
            <a:ext cx="3017520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806440" y="3456432"/>
            <a:ext cx="54864" cy="98755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0" y="35021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Development-time proxy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943600" y="379476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 enables fast structural quality monitoring without running full Winoground/ARO at every checkpoint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320040" y="4498848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"IPS can serve as a cheap development-time proxy for compositional capability, enabling structural quality to be monitored without full benchmark evaluation at every checkpoint."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274320"/>
            <a:ext cx="2286000" cy="2286000"/>
          </a:xfrm>
          <a:prstGeom prst="rect">
            <a:avLst/>
          </a:prstGeom>
          <a:solidFill>
            <a:srgbClr val="1E3A6E">
              <a:alpha val="35000"/>
            </a:srgbClr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840480"/>
            <a:ext cx="2560320" cy="2560320"/>
          </a:xfrm>
          <a:prstGeom prst="ellipse">
            <a:avLst/>
          </a:prstGeom>
          <a:solidFill>
            <a:srgbClr val="0A2040">
              <a:alpha val="60000"/>
            </a:srgbClr>
          </a:solidFill>
          <a:ln w="12700">
            <a:solidFill>
              <a:srgbClr val="0A2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01168"/>
            <a:ext cx="91440" cy="1280160"/>
          </a:xfrm>
          <a:prstGeom prst="rect">
            <a:avLst/>
          </a:prstGeom>
          <a:solidFill>
            <a:srgbClr val="0D7E8C"/>
          </a:solidFill>
          <a:ln w="12700">
            <a:solidFill>
              <a:srgbClr val="0D7E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0116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GS-CLIP — Summary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822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2B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Graph-Supervised Adaptation of CLIP for Relational Compositionality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261872"/>
            <a:ext cx="8503920" cy="804672"/>
          </a:xfrm>
          <a:prstGeom prst="rect">
            <a:avLst/>
          </a:prstGeom>
          <a:solidFill>
            <a:srgbClr val="0D2040"/>
          </a:solidFill>
          <a:ln w="12700">
            <a:solidFill>
              <a:srgbClr val="0D7E8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261872"/>
            <a:ext cx="73152" cy="804672"/>
          </a:xfrm>
          <a:prstGeom prst="rect">
            <a:avLst/>
          </a:prstGeom>
          <a:solidFill>
            <a:srgbClr val="0D7E8C"/>
          </a:solidFill>
          <a:ln w="12700">
            <a:solidFill>
              <a:srgbClr val="0D7E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984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Geometric diagnosis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57276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embedding collapse is measurable (IPS=0.971). We reduce it by 61% to 0.379 through structural computation inside the encoder — not just better training data.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2148840"/>
            <a:ext cx="8503920" cy="804672"/>
          </a:xfrm>
          <a:prstGeom prst="rect">
            <a:avLst/>
          </a:prstGeom>
          <a:solidFill>
            <a:srgbClr val="0D2040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148840"/>
            <a:ext cx="73152" cy="804672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1854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245973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 + Cross-Attention Fusion + LoRA is the right decomposition: GNN adds structural knowledge, residual fusion is non-destructive, LoRA adapts the backbone without forgetting.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3035808"/>
            <a:ext cx="8503920" cy="804672"/>
          </a:xfrm>
          <a:prstGeom prst="rect">
            <a:avLst/>
          </a:prstGeom>
          <a:solidFill>
            <a:srgbClr val="0D204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3035808"/>
            <a:ext cx="73152" cy="80467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07238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Downstream impact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334670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8.95pp over prior SOTA on ARO. Text-space tasks improve consistently. Vision bottleneck (frozen ViT) remains the key open problem for Winoground.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3922776"/>
            <a:ext cx="8503920" cy="804672"/>
          </a:xfrm>
          <a:prstGeom prst="rect">
            <a:avLst/>
          </a:prstGeom>
          <a:solidFill>
            <a:srgbClr val="0D2040"/>
          </a:solidFill>
          <a:ln w="12700">
            <a:solidFill>
              <a:srgbClr val="12B5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922776"/>
            <a:ext cx="73152" cy="804672"/>
          </a:xfrm>
          <a:prstGeom prst="rect">
            <a:avLst/>
          </a:prstGeom>
          <a:solidFill>
            <a:srgbClr val="12B5C5"/>
          </a:solidFill>
          <a:ln w="12700">
            <a:solidFill>
              <a:srgbClr val="12B5C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9593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B5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Proxy metric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423367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 is a reliable, cheap proxy for compositional capability across checkpoints — no need for full benchmark evaluation at every step.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4828032"/>
            <a:ext cx="8503920" cy="0"/>
          </a:xfrm>
          <a:prstGeom prst="line">
            <a:avLst/>
          </a:prstGeom>
          <a:noFill/>
          <a:ln w="9525">
            <a:solidFill>
              <a:srgbClr val="2A40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4864608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Nimay Upen Shah · 22b1232@iitb.ac.in · IIT Bombay EE · ECCV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GS-CLIP: Graph-Supervised Adaptation of CLIP</dc:title>
  <dc:subject>PptxGenJS Presentation</dc:subject>
  <dc:creator>Nimay Upen Shah</dc:creator>
  <cp:lastModifiedBy>Nimay Upen Shah</cp:lastModifiedBy>
  <cp:revision>1</cp:revision>
  <dcterms:created xsi:type="dcterms:W3CDTF">2026-04-20T06:53:27Z</dcterms:created>
  <dcterms:modified xsi:type="dcterms:W3CDTF">2026-04-20T06:53:27Z</dcterms:modified>
</cp:coreProperties>
</file>